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663"/>
  </p:normalViewPr>
  <p:slideViewPr>
    <p:cSldViewPr snapToGrid="0" snapToObjects="1">
      <p:cViewPr varScale="1">
        <p:scale>
          <a:sx n="99" d="100"/>
          <a:sy n="99" d="100"/>
        </p:scale>
        <p:origin x="5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64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script (~60 sec):</a:t>
            </a:r>
          </a:p>
          <a:p>
            <a:r>
              <a:t>We propose a soft robotic fin modeled as a flexible beam to study how stiffness and actuation shape bending and propulsive performance. Soft propulsion is attractive because it is quieter and safer than rigid propellers. Prior soft fish and foil studies show that fin stiffness and the motion program critically affect thrust and efficiency, and efficient cruising often lies near Strouhal numbers around 0.2 to 0.4. We will build on these findings with a simplified beam model to obtain clear, design-relevant maps from stiffness and actuation to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5161" y="-160543"/>
            <a:ext cx="3172575" cy="3387497"/>
          </a:xfrm>
        </p:spPr>
        <p:txBody>
          <a:bodyPr vert="horz" lIns="91440" tIns="45720" rIns="91440" bIns="45720" rtlCol="0" anchor="b">
            <a:normAutofit/>
          </a:bodyPr>
          <a:lstStyle/>
          <a:p>
            <a:pPr algn="r" defTabSz="914400">
              <a:lnSpc>
                <a:spcPct val="90000"/>
              </a:lnSpc>
            </a:pPr>
            <a:r>
              <a:rPr lang="en-US" sz="3500" kern="1200" dirty="0">
                <a:solidFill>
                  <a:srgbClr val="FFFFFF"/>
                </a:solidFill>
                <a:latin typeface="+mj-lt"/>
                <a:ea typeface="+mj-ea"/>
                <a:cs typeface="+mj-cs"/>
              </a:rPr>
              <a:t>Soft Robotic Fish:</a:t>
            </a:r>
          </a:p>
          <a:p>
            <a:pPr algn="r" defTabSz="914400">
              <a:lnSpc>
                <a:spcPct val="90000"/>
              </a:lnSpc>
            </a:pPr>
            <a:r>
              <a:rPr lang="en-US" sz="3500" kern="1200" dirty="0">
                <a:solidFill>
                  <a:srgbClr val="FFFFFF"/>
                </a:solidFill>
                <a:latin typeface="+mj-lt"/>
                <a:ea typeface="+mj-ea"/>
                <a:cs typeface="+mj-cs"/>
              </a:rPr>
              <a:t>Bending via Flexible Beam Model</a:t>
            </a:r>
          </a:p>
        </p:txBody>
      </p:sp>
      <p:sp>
        <p:nvSpPr>
          <p:cNvPr id="3" name="TextBox 2"/>
          <p:cNvSpPr txBox="1"/>
          <p:nvPr/>
        </p:nvSpPr>
        <p:spPr>
          <a:xfrm>
            <a:off x="212021" y="846360"/>
            <a:ext cx="3646835" cy="554604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1600">
                <a:solidFill>
                  <a:srgbClr val="5A5A5A"/>
                </a:solidFill>
              </a:defRPr>
            </a:pPr>
            <a:endParaRPr lang="en-US" sz="1700" dirty="0"/>
          </a:p>
          <a:p>
            <a:pPr indent="-228600" defTabSz="914400">
              <a:lnSpc>
                <a:spcPct val="90000"/>
              </a:lnSpc>
              <a:spcAft>
                <a:spcPts val="600"/>
              </a:spcAft>
              <a:buFont typeface="Arial" panose="020B0604020202020204" pitchFamily="34" charset="0"/>
              <a:buChar char="•"/>
              <a:defRPr sz="1600">
                <a:solidFill>
                  <a:srgbClr val="5A5A5A"/>
                </a:solidFill>
              </a:defRPr>
            </a:pPr>
            <a:r>
              <a:rPr lang="en-US" sz="1700" dirty="0">
                <a:solidFill>
                  <a:schemeClr val="bg1"/>
                </a:solidFill>
              </a:rPr>
              <a:t>MAE-263F Mechanics of Flexible Structures &amp; Soft Robots</a:t>
            </a:r>
            <a:br>
              <a:rPr lang="en-US" sz="1700" dirty="0">
                <a:solidFill>
                  <a:schemeClr val="bg1"/>
                </a:solidFill>
              </a:rPr>
            </a:br>
            <a:r>
              <a:rPr lang="en-US" sz="1700" dirty="0">
                <a:solidFill>
                  <a:schemeClr val="bg1"/>
                </a:solidFill>
              </a:rPr>
              <a:t>Jiajin Cui</a:t>
            </a:r>
          </a:p>
        </p:txBody>
      </p:sp>
      <p:sp>
        <p:nvSpPr>
          <p:cNvPr id="4" name="TextBox 3"/>
          <p:cNvSpPr txBox="1"/>
          <p:nvPr/>
        </p:nvSpPr>
        <p:spPr>
          <a:xfrm>
            <a:off x="4185153" y="2285610"/>
            <a:ext cx="4114800" cy="1461939"/>
          </a:xfrm>
          <a:prstGeom prst="rect">
            <a:avLst/>
          </a:prstGeom>
          <a:noFill/>
        </p:spPr>
        <p:txBody>
          <a:bodyPr wrap="square">
            <a:spAutoFit/>
          </a:bodyPr>
          <a:lstStyle/>
          <a:p>
            <a:pPr>
              <a:spcAft>
                <a:spcPts val="600"/>
              </a:spcAft>
              <a:defRPr sz="2000" b="1"/>
            </a:pPr>
            <a:r>
              <a:rPr lang="en-US" dirty="0"/>
              <a:t>Problem</a:t>
            </a:r>
          </a:p>
          <a:p>
            <a:pPr lvl="1">
              <a:spcAft>
                <a:spcPts val="600"/>
              </a:spcAft>
              <a:defRPr sz="1600"/>
            </a:pPr>
            <a:r>
              <a:rPr lang="en-US" dirty="0"/>
              <a:t>Previous soft robotic fish simulations usually requires complex computation such as computational fluid dynamics, and finite element analysis.</a:t>
            </a:r>
          </a:p>
        </p:txBody>
      </p:sp>
      <p:sp>
        <p:nvSpPr>
          <p:cNvPr id="5" name="TextBox 4">
            <a:extLst>
              <a:ext uri="{FF2B5EF4-FFF2-40B4-BE49-F238E27FC236}">
                <a16:creationId xmlns:a16="http://schemas.microsoft.com/office/drawing/2014/main" id="{6A78E9FC-2853-16B5-71F7-35D55A9131C5}"/>
              </a:ext>
            </a:extLst>
          </p:cNvPr>
          <p:cNvSpPr txBox="1"/>
          <p:nvPr/>
        </p:nvSpPr>
        <p:spPr>
          <a:xfrm>
            <a:off x="4185153" y="3840835"/>
            <a:ext cx="4114800" cy="1461939"/>
          </a:xfrm>
          <a:prstGeom prst="rect">
            <a:avLst/>
          </a:prstGeom>
          <a:noFill/>
        </p:spPr>
        <p:txBody>
          <a:bodyPr wrap="square">
            <a:spAutoFit/>
          </a:bodyPr>
          <a:lstStyle/>
          <a:p>
            <a:pPr>
              <a:spcAft>
                <a:spcPts val="600"/>
              </a:spcAft>
              <a:defRPr sz="2000" b="1"/>
            </a:pPr>
            <a:r>
              <a:rPr lang="en-US" dirty="0"/>
              <a:t>Motivation</a:t>
            </a:r>
          </a:p>
          <a:p>
            <a:pPr lvl="1">
              <a:spcAft>
                <a:spcPts val="600"/>
              </a:spcAft>
              <a:defRPr sz="1600"/>
            </a:pPr>
            <a:r>
              <a:rPr lang="en-US" dirty="0"/>
              <a:t>Using Euler-Bernoulli to model the fish as a spring-node network with a time-varying curvature to simulate the movement of a bionic fish</a:t>
            </a:r>
          </a:p>
        </p:txBody>
      </p:sp>
      <p:sp>
        <p:nvSpPr>
          <p:cNvPr id="8" name="TextBox 7">
            <a:extLst>
              <a:ext uri="{FF2B5EF4-FFF2-40B4-BE49-F238E27FC236}">
                <a16:creationId xmlns:a16="http://schemas.microsoft.com/office/drawing/2014/main" id="{94FF2708-D49A-72F6-3F14-6BCCA5E1A0CD}"/>
              </a:ext>
            </a:extLst>
          </p:cNvPr>
          <p:cNvSpPr txBox="1"/>
          <p:nvPr/>
        </p:nvSpPr>
        <p:spPr>
          <a:xfrm>
            <a:off x="4175953" y="344711"/>
            <a:ext cx="4858577" cy="1754326"/>
          </a:xfrm>
          <a:prstGeom prst="rect">
            <a:avLst/>
          </a:prstGeom>
          <a:noFill/>
        </p:spPr>
        <p:txBody>
          <a:bodyPr wrap="square" rtlCol="0">
            <a:spAutoFit/>
          </a:bodyPr>
          <a:lstStyle/>
          <a:p>
            <a:r>
              <a:rPr lang="en-US" dirty="0"/>
              <a:t>Previous Studies</a:t>
            </a:r>
          </a:p>
          <a:p>
            <a:pPr marL="342900" indent="-342900">
              <a:buAutoNum type="arabicPeriod"/>
            </a:pPr>
            <a:r>
              <a:rPr lang="en-US" dirty="0"/>
              <a:t>FEM-based soft robots (</a:t>
            </a:r>
            <a:r>
              <a:rPr lang="en-US" dirty="0" err="1"/>
              <a:t>Katzschmann</a:t>
            </a:r>
            <a:r>
              <a:rPr lang="en-US" dirty="0"/>
              <a:t> et al.)</a:t>
            </a:r>
          </a:p>
          <a:p>
            <a:pPr marL="342900" indent="-342900">
              <a:buAutoNum type="arabicPeriod"/>
            </a:pPr>
            <a:r>
              <a:rPr lang="en-US" dirty="0"/>
              <a:t>stiffness–thrust relationships (Esposito et al.)</a:t>
            </a:r>
          </a:p>
          <a:p>
            <a:pPr marL="342900" indent="-342900">
              <a:buAutoNum type="arabicPeriod"/>
            </a:pPr>
            <a:r>
              <a:rPr lang="en-US" dirty="0"/>
              <a:t>tunable stiffness (Zhong et al.)</a:t>
            </a:r>
          </a:p>
          <a:p>
            <a:pPr marL="342900" indent="-342900">
              <a:buAutoNum type="arabicPeriod"/>
            </a:pPr>
            <a:r>
              <a:rPr lang="en-US" dirty="0"/>
              <a:t>hydrodynamics platforms (Lauder)</a:t>
            </a:r>
          </a:p>
          <a:p>
            <a:pPr marL="342900" indent="-342900">
              <a:buAutoNum type="arabicPeriod"/>
            </a:pPr>
            <a:r>
              <a:rPr lang="en-US" dirty="0"/>
              <a:t>Strouhal number theory (Eloy)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855A890-B60B-4670-9DC2-69DC05015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C2DE6ED-6844-AB1E-49D5-3AE24B726756}"/>
              </a:ext>
            </a:extLst>
          </p:cNvPr>
          <p:cNvSpPr txBox="1"/>
          <p:nvPr/>
        </p:nvSpPr>
        <p:spPr>
          <a:xfrm>
            <a:off x="358220" y="5086350"/>
            <a:ext cx="1834849" cy="1178298"/>
          </a:xfrm>
          <a:prstGeom prst="rect">
            <a:avLst/>
          </a:prstGeom>
        </p:spPr>
        <p:txBody>
          <a:bodyPr vert="horz" lIns="91440" tIns="45720" rIns="91440" bIns="45720" rtlCol="0">
            <a:normAutofit/>
          </a:bodyPr>
          <a:lstStyle/>
          <a:p>
            <a:pPr defTabSz="914400">
              <a:lnSpc>
                <a:spcPct val="90000"/>
              </a:lnSpc>
              <a:spcBef>
                <a:spcPts val="1000"/>
              </a:spcBef>
            </a:pPr>
            <a:r>
              <a:rPr lang="en-US" sz="1400" b="1" i="1" dirty="0"/>
              <a:t> </a:t>
            </a:r>
          </a:p>
        </p:txBody>
      </p:sp>
      <p:sp>
        <p:nvSpPr>
          <p:cNvPr id="34" name="Rectangle 3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76976" y="3411145"/>
            <a:ext cx="1719072"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067477" y="245695"/>
            <a:ext cx="1715478" cy="643756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462" y="664308"/>
            <a:ext cx="6061974"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51BEAF2D-7700-68E5-47FA-042ED1828478}"/>
              </a:ext>
            </a:extLst>
          </p:cNvPr>
          <p:cNvPicPr>
            <a:picLocks noChangeAspect="1"/>
          </p:cNvPicPr>
          <p:nvPr/>
        </p:nvPicPr>
        <p:blipFill>
          <a:blip r:embed="rId3"/>
          <a:stretch>
            <a:fillRect/>
          </a:stretch>
        </p:blipFill>
        <p:spPr>
          <a:xfrm>
            <a:off x="2770660" y="774894"/>
            <a:ext cx="2193705" cy="1327191"/>
          </a:xfrm>
          <a:prstGeom prst="rect">
            <a:avLst/>
          </a:prstGeom>
        </p:spPr>
      </p:pic>
      <p:pic>
        <p:nvPicPr>
          <p:cNvPr id="5" name="Picture 4">
            <a:extLst>
              <a:ext uri="{FF2B5EF4-FFF2-40B4-BE49-F238E27FC236}">
                <a16:creationId xmlns:a16="http://schemas.microsoft.com/office/drawing/2014/main" id="{5389B950-B0DE-6C3F-BC91-BB5682D4D892}"/>
              </a:ext>
            </a:extLst>
          </p:cNvPr>
          <p:cNvPicPr>
            <a:picLocks noChangeAspect="1"/>
          </p:cNvPicPr>
          <p:nvPr/>
        </p:nvPicPr>
        <p:blipFill>
          <a:blip r:embed="rId4"/>
          <a:stretch>
            <a:fillRect/>
          </a:stretch>
        </p:blipFill>
        <p:spPr>
          <a:xfrm>
            <a:off x="2864122" y="2129409"/>
            <a:ext cx="2221242" cy="1327191"/>
          </a:xfrm>
          <a:prstGeom prst="rect">
            <a:avLst/>
          </a:prstGeom>
        </p:spPr>
      </p:pic>
      <p:pic>
        <p:nvPicPr>
          <p:cNvPr id="4" name="Picture 3">
            <a:extLst>
              <a:ext uri="{FF2B5EF4-FFF2-40B4-BE49-F238E27FC236}">
                <a16:creationId xmlns:a16="http://schemas.microsoft.com/office/drawing/2014/main" id="{581FA9E4-F6B8-F9D8-A70E-EB2F6FD5E8EF}"/>
              </a:ext>
            </a:extLst>
          </p:cNvPr>
          <p:cNvPicPr>
            <a:picLocks noChangeAspect="1"/>
          </p:cNvPicPr>
          <p:nvPr/>
        </p:nvPicPr>
        <p:blipFill>
          <a:blip r:embed="rId5"/>
          <a:stretch>
            <a:fillRect/>
          </a:stretch>
        </p:blipFill>
        <p:spPr>
          <a:xfrm>
            <a:off x="2895269" y="3479058"/>
            <a:ext cx="2221242" cy="1327191"/>
          </a:xfrm>
          <a:prstGeom prst="rect">
            <a:avLst/>
          </a:prstGeom>
        </p:spPr>
      </p:pic>
      <p:pic>
        <p:nvPicPr>
          <p:cNvPr id="3" name="Picture 2">
            <a:extLst>
              <a:ext uri="{FF2B5EF4-FFF2-40B4-BE49-F238E27FC236}">
                <a16:creationId xmlns:a16="http://schemas.microsoft.com/office/drawing/2014/main" id="{82B4FBBA-D867-2586-EF70-3BA166262930}"/>
              </a:ext>
            </a:extLst>
          </p:cNvPr>
          <p:cNvPicPr>
            <a:picLocks noChangeAspect="1"/>
          </p:cNvPicPr>
          <p:nvPr/>
        </p:nvPicPr>
        <p:blipFill>
          <a:blip r:embed="rId6"/>
          <a:stretch>
            <a:fillRect/>
          </a:stretch>
        </p:blipFill>
        <p:spPr>
          <a:xfrm>
            <a:off x="2895269" y="4909099"/>
            <a:ext cx="2232891" cy="1334151"/>
          </a:xfrm>
          <a:prstGeom prst="rect">
            <a:avLst/>
          </a:prstGeom>
        </p:spPr>
      </p:pic>
      <p:sp>
        <p:nvSpPr>
          <p:cNvPr id="9" name="TextBox 8">
            <a:extLst>
              <a:ext uri="{FF2B5EF4-FFF2-40B4-BE49-F238E27FC236}">
                <a16:creationId xmlns:a16="http://schemas.microsoft.com/office/drawing/2014/main" id="{21B5E490-A59C-3714-03E5-4E1B7082AD35}"/>
              </a:ext>
            </a:extLst>
          </p:cNvPr>
          <p:cNvSpPr txBox="1"/>
          <p:nvPr/>
        </p:nvSpPr>
        <p:spPr>
          <a:xfrm>
            <a:off x="-2" y="1597432"/>
            <a:ext cx="4572002" cy="5133152"/>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endParaRPr lang="en-US" sz="1700" dirty="0"/>
          </a:p>
        </p:txBody>
      </p:sp>
      <p:sp>
        <p:nvSpPr>
          <p:cNvPr id="13" name="TextBox 12">
            <a:extLst>
              <a:ext uri="{FF2B5EF4-FFF2-40B4-BE49-F238E27FC236}">
                <a16:creationId xmlns:a16="http://schemas.microsoft.com/office/drawing/2014/main" id="{8A9024FB-C6BD-2BDA-BE13-397AC8261C90}"/>
              </a:ext>
            </a:extLst>
          </p:cNvPr>
          <p:cNvSpPr txBox="1"/>
          <p:nvPr/>
        </p:nvSpPr>
        <p:spPr>
          <a:xfrm>
            <a:off x="5279034" y="1747592"/>
            <a:ext cx="3864966" cy="3139202"/>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endParaRPr lang="en-US" sz="1700" dirty="0"/>
          </a:p>
        </p:txBody>
      </p:sp>
      <p:pic>
        <p:nvPicPr>
          <p:cNvPr id="6" name="Picture 5">
            <a:extLst>
              <a:ext uri="{FF2B5EF4-FFF2-40B4-BE49-F238E27FC236}">
                <a16:creationId xmlns:a16="http://schemas.microsoft.com/office/drawing/2014/main" id="{E1A57E9B-FC14-A337-777C-8C37C0E9ED06}"/>
              </a:ext>
            </a:extLst>
          </p:cNvPr>
          <p:cNvPicPr>
            <a:picLocks noChangeAspect="1"/>
          </p:cNvPicPr>
          <p:nvPr/>
        </p:nvPicPr>
        <p:blipFill>
          <a:blip r:embed="rId7"/>
          <a:stretch>
            <a:fillRect/>
          </a:stretch>
        </p:blipFill>
        <p:spPr>
          <a:xfrm>
            <a:off x="5167967" y="1083832"/>
            <a:ext cx="3708505" cy="4466721"/>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91888E3-CFFB-96BD-BC16-4562FC2932F8}"/>
                  </a:ext>
                </a:extLst>
              </p:cNvPr>
              <p:cNvSpPr txBox="1"/>
              <p:nvPr/>
            </p:nvSpPr>
            <p:spPr>
              <a:xfrm>
                <a:off x="-82605" y="0"/>
                <a:ext cx="3013656" cy="5355312"/>
              </a:xfrm>
              <a:prstGeom prst="rect">
                <a:avLst/>
              </a:prstGeom>
              <a:noFill/>
            </p:spPr>
            <p:txBody>
              <a:bodyPr wrap="square" rtlCol="0">
                <a:spAutoFit/>
              </a:bodyPr>
              <a:lstStyle/>
              <a:p>
                <a:r>
                  <a:rPr lang="en-US" dirty="0"/>
                  <a:t>11 nodes</a:t>
                </a:r>
              </a:p>
              <a:p>
                <a:r>
                  <a:rPr lang="en-US" dirty="0"/>
                  <a:t>Internal curvature actuation</a:t>
                </a:r>
              </a:p>
              <a:p>
                <a:r>
                  <a:rPr lang="en-US" dirty="0"/>
                  <a:t>Reproducing curvature wave</a:t>
                </a:r>
              </a:p>
              <a:p>
                <a:endParaRPr lang="en-US" dirty="0"/>
              </a:p>
              <a:p>
                <a:endParaRPr lang="en-US" dirty="0"/>
              </a:p>
              <a:p>
                <a:r>
                  <a:rPr lang="en-US" b="1" dirty="0"/>
                  <a:t>Parameter Sweeps</a:t>
                </a:r>
                <a:endParaRPr lang="en-US" dirty="0"/>
              </a:p>
              <a:p>
                <a:r>
                  <a:rPr lang="en-US" dirty="0"/>
                  <a:t>Run simulations over ranges of:</a:t>
                </a:r>
              </a:p>
              <a:p>
                <a:pPr lvl="1"/>
                <a:r>
                  <a:rPr lang="en-US" dirty="0"/>
                  <a:t>Stiffness values (EI, EA)</a:t>
                </a:r>
              </a:p>
              <a:p>
                <a:pPr lvl="1"/>
                <a:r>
                  <a:rPr lang="en-US" dirty="0"/>
                  <a:t>Actuation frequency </a:t>
                </a:r>
                <a14:m>
                  <m:oMath xmlns:m="http://schemas.openxmlformats.org/officeDocument/2006/math">
                    <m:r>
                      <a:rPr lang="en-US" b="0" i="1" smtClean="0">
                        <a:latin typeface="Cambria Math" panose="02040503050406030204" pitchFamily="18" charset="0"/>
                      </a:rPr>
                      <m:t>𝑓</m:t>
                    </m:r>
                  </m:oMath>
                </a14:m>
                <a:endParaRPr lang="en-US" dirty="0"/>
              </a:p>
              <a:p>
                <a:pPr lvl="1"/>
                <a:r>
                  <a:rPr lang="en-US" dirty="0"/>
                  <a:t>Actuation amplitude </a:t>
                </a:r>
                <a14:m>
                  <m:oMath xmlns:m="http://schemas.openxmlformats.org/officeDocument/2006/math">
                    <m:sSub>
                      <m:sSubPr>
                        <m:ctrlPr>
                          <a:rPr lang="ar-AE"/>
                        </m:ctrlPr>
                      </m:sSubPr>
                      <m:e>
                        <m:r>
                          <a:rPr lang="ar-AE" b="0" i="1" smtClean="0">
                            <a:latin typeface="Cambria Math" panose="02040503050406030204" pitchFamily="18" charset="0"/>
                          </a:rPr>
                          <m:t>𝐴</m:t>
                        </m:r>
                      </m:e>
                      <m:sub>
                        <m:r>
                          <a:rPr lang="ar-AE" b="0" smtClean="0">
                            <a:latin typeface="Cambria Math" panose="02040503050406030204" pitchFamily="18" charset="0"/>
                          </a:rPr>
                          <m:t>0</m:t>
                        </m:r>
                      </m:sub>
                    </m:sSub>
                  </m:oMath>
                </a14:m>
                <a:endParaRPr lang="ar-AE" dirty="0"/>
              </a:p>
              <a:p>
                <a:pPr lvl="1"/>
                <a:r>
                  <a:rPr lang="en-US" dirty="0"/>
                  <a:t>Spatial wave numbers </a:t>
                </a:r>
                <a14:m>
                  <m:oMath xmlns:m="http://schemas.openxmlformats.org/officeDocument/2006/math">
                    <m:r>
                      <a:rPr lang="en-US" i="1"/>
                      <m:t>𝑘</m:t>
                    </m:r>
                  </m:oMath>
                </a14:m>
                <a:endParaRPr lang="en-US" dirty="0"/>
              </a:p>
              <a:p>
                <a:r>
                  <a:rPr lang="en-US" dirty="0"/>
                  <a:t>Record how these affect:</a:t>
                </a:r>
              </a:p>
              <a:p>
                <a:pPr lvl="1"/>
                <a:r>
                  <a:rPr lang="en-US" dirty="0"/>
                  <a:t>Tail-tip amplitude</a:t>
                </a:r>
              </a:p>
              <a:p>
                <a:pPr lvl="1"/>
                <a:r>
                  <a:rPr lang="en-US" dirty="0"/>
                  <a:t>Propagation speed of curvature</a:t>
                </a:r>
              </a:p>
              <a:p>
                <a:pPr lvl="1"/>
                <a:r>
                  <a:rPr lang="en-US" dirty="0"/>
                  <a:t>Overall deformation pattern</a:t>
                </a:r>
              </a:p>
              <a:p>
                <a:endParaRPr lang="en-US" dirty="0"/>
              </a:p>
            </p:txBody>
          </p:sp>
        </mc:Choice>
        <mc:Fallback>
          <p:sp>
            <p:nvSpPr>
              <p:cNvPr id="8" name="TextBox 7">
                <a:extLst>
                  <a:ext uri="{FF2B5EF4-FFF2-40B4-BE49-F238E27FC236}">
                    <a16:creationId xmlns:a16="http://schemas.microsoft.com/office/drawing/2014/main" id="{891888E3-CFFB-96BD-BC16-4562FC2932F8}"/>
                  </a:ext>
                </a:extLst>
              </p:cNvPr>
              <p:cNvSpPr txBox="1">
                <a:spLocks noRot="1" noChangeAspect="1" noMove="1" noResize="1" noEditPoints="1" noAdjustHandles="1" noChangeArrowheads="1" noChangeShapeType="1" noTextEdit="1"/>
              </p:cNvSpPr>
              <p:nvPr/>
            </p:nvSpPr>
            <p:spPr>
              <a:xfrm>
                <a:off x="-82605" y="0"/>
                <a:ext cx="3013656" cy="5355312"/>
              </a:xfrm>
              <a:prstGeom prst="rect">
                <a:avLst/>
              </a:prstGeom>
              <a:blipFill>
                <a:blip r:embed="rId8"/>
                <a:stretch>
                  <a:fillRect l="-1681" t="-474"/>
                </a:stretch>
              </a:blipFill>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2019-98DF-CF91-4656-5E5BB57F95AE}"/>
              </a:ext>
            </a:extLst>
          </p:cNvPr>
          <p:cNvSpPr>
            <a:spLocks noGrp="1"/>
          </p:cNvSpPr>
          <p:nvPr>
            <p:ph type="title"/>
          </p:nvPr>
        </p:nvSpPr>
        <p:spPr/>
        <p:txBody>
          <a:bodyPr/>
          <a:lstStyle/>
          <a:p>
            <a:r>
              <a:rPr lang="en-US" dirty="0"/>
              <a:t>Reference</a:t>
            </a:r>
          </a:p>
        </p:txBody>
      </p:sp>
      <p:sp>
        <p:nvSpPr>
          <p:cNvPr id="3" name="TextBox 2">
            <a:extLst>
              <a:ext uri="{FF2B5EF4-FFF2-40B4-BE49-F238E27FC236}">
                <a16:creationId xmlns:a16="http://schemas.microsoft.com/office/drawing/2014/main" id="{230F2009-321C-CB97-2621-21DB1E713B84}"/>
              </a:ext>
            </a:extLst>
          </p:cNvPr>
          <p:cNvSpPr txBox="1"/>
          <p:nvPr/>
        </p:nvSpPr>
        <p:spPr>
          <a:xfrm>
            <a:off x="115910" y="1417638"/>
            <a:ext cx="19265787" cy="1477328"/>
          </a:xfrm>
          <a:prstGeom prst="rect">
            <a:avLst/>
          </a:prstGeom>
          <a:noFill/>
        </p:spPr>
        <p:txBody>
          <a:bodyPr wrap="square" rtlCol="0">
            <a:spAutoFit/>
          </a:bodyPr>
          <a:lstStyle/>
          <a:p>
            <a:pPr lvl="0"/>
            <a:r>
              <a:rPr lang="en-US" sz="900" dirty="0"/>
              <a:t>Eloy, C. (2012). Optimal Strouhal number for swimming animals. </a:t>
            </a:r>
            <a:r>
              <a:rPr lang="en-US" sz="900" i="1" dirty="0"/>
              <a:t>Journal of Theoretical Biology, 324</a:t>
            </a:r>
            <a:r>
              <a:rPr lang="en-US" sz="900" dirty="0"/>
              <a:t>, 41–49.</a:t>
            </a:r>
          </a:p>
          <a:p>
            <a:pPr lvl="0"/>
            <a:endParaRPr lang="en-US" sz="900" dirty="0"/>
          </a:p>
          <a:p>
            <a:pPr lvl="0"/>
            <a:r>
              <a:rPr lang="en-US" sz="900" dirty="0"/>
              <a:t>Esposito, C. J., Tangorra, J. L., Flammang, B. E., &amp; Lauder, G. V. (2012). A robotic fish caudal fin: Effects of stiffness and kinematics on locomotor performance. </a:t>
            </a:r>
            <a:r>
              <a:rPr lang="en-US" sz="900" i="1" dirty="0"/>
              <a:t>Journal of Experimental Biology</a:t>
            </a:r>
            <a:r>
              <a:rPr lang="en-US" sz="900" dirty="0"/>
              <a:t>.</a:t>
            </a:r>
          </a:p>
          <a:p>
            <a:pPr lvl="0"/>
            <a:endParaRPr lang="en-US" sz="900" dirty="0"/>
          </a:p>
          <a:p>
            <a:pPr lvl="0"/>
            <a:r>
              <a:rPr lang="en-US" sz="900" dirty="0" err="1"/>
              <a:t>Katzschmann</a:t>
            </a:r>
            <a:r>
              <a:rPr lang="en-US" sz="900" dirty="0"/>
              <a:t>, R. K., </a:t>
            </a:r>
            <a:r>
              <a:rPr lang="en-US" sz="900" dirty="0" err="1"/>
              <a:t>DelPreto</a:t>
            </a:r>
            <a:r>
              <a:rPr lang="en-US" sz="900" dirty="0"/>
              <a:t>, J., MacCurdy, R., &amp; Rus, D. (2018). Exploration of underwater life with an acoustically controlled soft robotic fish. </a:t>
            </a:r>
            <a:r>
              <a:rPr lang="en-US" sz="900" i="1" dirty="0"/>
              <a:t>Science Robotics, 3</a:t>
            </a:r>
            <a:r>
              <a:rPr lang="en-US" sz="900" dirty="0"/>
              <a:t>(16), eaar3449.</a:t>
            </a:r>
          </a:p>
          <a:p>
            <a:pPr lvl="0"/>
            <a:endParaRPr lang="en-US" sz="900" dirty="0"/>
          </a:p>
          <a:p>
            <a:pPr lvl="0"/>
            <a:r>
              <a:rPr lang="en-US" sz="900" dirty="0"/>
              <a:t>Lauder, G. V., Madden, P. G., Mittal, R., Jones, E. A., &amp; Baker, T. V. (2012). Fish-inspired robotics: Multi-phase hydrodynamics. </a:t>
            </a:r>
            <a:r>
              <a:rPr lang="en-US" sz="900" i="1" dirty="0"/>
              <a:t>Integrative and Comparative Biology, 52</a:t>
            </a:r>
            <a:r>
              <a:rPr lang="en-US" sz="900" dirty="0"/>
              <a:t>(6), 891–896.</a:t>
            </a:r>
          </a:p>
          <a:p>
            <a:pPr lvl="0"/>
            <a:endParaRPr lang="en-US" sz="900" dirty="0"/>
          </a:p>
          <a:p>
            <a:pPr lvl="0"/>
            <a:r>
              <a:rPr lang="en-US" sz="900" dirty="0"/>
              <a:t>Zhong, J., Wang, T., Li, G., &amp; Zhu, J. (2021). Tunable stiffness swimming robots. </a:t>
            </a:r>
            <a:r>
              <a:rPr lang="en-US" sz="900" i="1" dirty="0"/>
              <a:t>Science Robotics, 6</a:t>
            </a:r>
            <a:r>
              <a:rPr lang="en-US" sz="900" dirty="0"/>
              <a:t>(54), eabd2971.</a:t>
            </a:r>
          </a:p>
          <a:p>
            <a:endParaRPr lang="en-US" sz="900" dirty="0"/>
          </a:p>
        </p:txBody>
      </p:sp>
    </p:spTree>
    <p:extLst>
      <p:ext uri="{BB962C8B-B14F-4D97-AF65-F5344CB8AC3E}">
        <p14:creationId xmlns:p14="http://schemas.microsoft.com/office/powerpoint/2010/main" val="3272809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442</Words>
  <Application>Microsoft Macintosh PowerPoint</Application>
  <PresentationFormat>On-screen Show (4:3)</PresentationFormat>
  <Paragraphs>42</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Cambria Math</vt:lpstr>
      <vt:lpstr>Office Theme</vt:lpstr>
      <vt:lpstr>Soft Robotic Fish: Bending via Flexible Beam Model</vt:lpstr>
      <vt:lpstr>PowerPoint Presentation</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Jiajin Cui</cp:lastModifiedBy>
  <cp:revision>7</cp:revision>
  <dcterms:created xsi:type="dcterms:W3CDTF">2013-01-27T09:14:16Z</dcterms:created>
  <dcterms:modified xsi:type="dcterms:W3CDTF">2025-11-24T19:04:09Z</dcterms:modified>
  <cp:category/>
</cp:coreProperties>
</file>