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7" r:id="rId3"/>
    <p:sldId id="259" r:id="rId4"/>
    <p:sldId id="260" r:id="rId5"/>
    <p:sldId id="265" r:id="rId6"/>
    <p:sldId id="266" r:id="rId7"/>
    <p:sldId id="262" r:id="rId8"/>
    <p:sldId id="261" r:id="rId9"/>
    <p:sldId id="263" r:id="rId10"/>
    <p:sldId id="264" r:id="rId11"/>
    <p:sldId id="269" r:id="rId12"/>
    <p:sldId id="268" r:id="rId13"/>
    <p:sldId id="25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78"/>
    <p:restoredTop sz="94687"/>
  </p:normalViewPr>
  <p:slideViewPr>
    <p:cSldViewPr snapToGrid="0" snapToObjects="1">
      <p:cViewPr>
        <p:scale>
          <a:sx n="94" d="100"/>
          <a:sy n="94" d="100"/>
        </p:scale>
        <p:origin x="624" y="4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CC4666-2CB1-4B35-8D4F-C70CD3749357}"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C09C4BBD-EFF9-4F05-B28E-05D102C23919}">
      <dgm:prSet/>
      <dgm:spPr/>
      <dgm:t>
        <a:bodyPr/>
        <a:lstStyle/>
        <a:p>
          <a:r>
            <a:rPr lang="en-US"/>
            <a:t>Rod Length L = 0.1m</a:t>
          </a:r>
        </a:p>
      </dgm:t>
    </dgm:pt>
    <dgm:pt modelId="{135CAD47-DD64-4BE1-98A0-3798A7B147A6}" type="parTrans" cxnId="{94417132-C2AB-4D17-A356-DE8964086352}">
      <dgm:prSet/>
      <dgm:spPr/>
      <dgm:t>
        <a:bodyPr/>
        <a:lstStyle/>
        <a:p>
          <a:endParaRPr lang="en-US"/>
        </a:p>
      </dgm:t>
    </dgm:pt>
    <dgm:pt modelId="{F02F7EBB-0584-49F0-AA41-920323FA63C2}" type="sibTrans" cxnId="{94417132-C2AB-4D17-A356-DE8964086352}">
      <dgm:prSet/>
      <dgm:spPr/>
      <dgm:t>
        <a:bodyPr/>
        <a:lstStyle/>
        <a:p>
          <a:endParaRPr lang="en-US"/>
        </a:p>
      </dgm:t>
    </dgm:pt>
    <dgm:pt modelId="{B6920C73-B3F9-478A-A418-835228A0EB7F}">
      <dgm:prSet/>
      <dgm:spPr/>
      <dgm:t>
        <a:bodyPr/>
        <a:lstStyle/>
        <a:p>
          <a:r>
            <a:rPr lang="en-US"/>
            <a:t>11 nodes</a:t>
          </a:r>
        </a:p>
      </dgm:t>
    </dgm:pt>
    <dgm:pt modelId="{A7EABD33-3EAB-4503-B1BB-07E161047720}" type="parTrans" cxnId="{8B7FDACE-5EBC-4B00-887D-ABBE1966E2C8}">
      <dgm:prSet/>
      <dgm:spPr/>
      <dgm:t>
        <a:bodyPr/>
        <a:lstStyle/>
        <a:p>
          <a:endParaRPr lang="en-US"/>
        </a:p>
      </dgm:t>
    </dgm:pt>
    <dgm:pt modelId="{E8247134-AD21-4C96-9AE8-769BC6194789}" type="sibTrans" cxnId="{8B7FDACE-5EBC-4B00-887D-ABBE1966E2C8}">
      <dgm:prSet/>
      <dgm:spPr/>
      <dgm:t>
        <a:bodyPr/>
        <a:lstStyle/>
        <a:p>
          <a:endParaRPr lang="en-US"/>
        </a:p>
      </dgm:t>
    </dgm:pt>
    <dgm:pt modelId="{97743FB4-A61D-4398-A11C-AC6B5FE8C842}" type="pres">
      <dgm:prSet presAssocID="{49CC4666-2CB1-4B35-8D4F-C70CD3749357}" presName="root" presStyleCnt="0">
        <dgm:presLayoutVars>
          <dgm:dir/>
          <dgm:resizeHandles val="exact"/>
        </dgm:presLayoutVars>
      </dgm:prSet>
      <dgm:spPr/>
    </dgm:pt>
    <dgm:pt modelId="{9E2E4242-3735-4C20-8DD7-0F0F32AB5F61}" type="pres">
      <dgm:prSet presAssocID="{C09C4BBD-EFF9-4F05-B28E-05D102C23919}" presName="compNode" presStyleCnt="0"/>
      <dgm:spPr/>
    </dgm:pt>
    <dgm:pt modelId="{7DBCCA2A-B684-490B-A24D-2B11537FD1DA}" type="pres">
      <dgm:prSet presAssocID="{C09C4BBD-EFF9-4F05-B28E-05D102C2391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uler"/>
        </a:ext>
      </dgm:extLst>
    </dgm:pt>
    <dgm:pt modelId="{65C7F6D3-2CB3-4B8C-9833-C52657721CB0}" type="pres">
      <dgm:prSet presAssocID="{C09C4BBD-EFF9-4F05-B28E-05D102C23919}" presName="spaceRect" presStyleCnt="0"/>
      <dgm:spPr/>
    </dgm:pt>
    <dgm:pt modelId="{F4DD73B1-D98C-4BF1-AD0F-C569367886D7}" type="pres">
      <dgm:prSet presAssocID="{C09C4BBD-EFF9-4F05-B28E-05D102C23919}" presName="textRect" presStyleLbl="revTx" presStyleIdx="0" presStyleCnt="2">
        <dgm:presLayoutVars>
          <dgm:chMax val="1"/>
          <dgm:chPref val="1"/>
        </dgm:presLayoutVars>
      </dgm:prSet>
      <dgm:spPr/>
    </dgm:pt>
    <dgm:pt modelId="{3A7BB0A6-D352-44DF-B58A-6316A32D76D8}" type="pres">
      <dgm:prSet presAssocID="{F02F7EBB-0584-49F0-AA41-920323FA63C2}" presName="sibTrans" presStyleCnt="0"/>
      <dgm:spPr/>
    </dgm:pt>
    <dgm:pt modelId="{01207B8C-11BC-4A82-A852-41A56D05C4F7}" type="pres">
      <dgm:prSet presAssocID="{B6920C73-B3F9-478A-A418-835228A0EB7F}" presName="compNode" presStyleCnt="0"/>
      <dgm:spPr/>
    </dgm:pt>
    <dgm:pt modelId="{EFC51456-221E-425E-9FD2-14B7F439C3B8}" type="pres">
      <dgm:prSet presAssocID="{B6920C73-B3F9-478A-A418-835228A0EB7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twork"/>
        </a:ext>
      </dgm:extLst>
    </dgm:pt>
    <dgm:pt modelId="{E3409259-B3FD-4C6B-BFE9-BF5A3C0C7A3B}" type="pres">
      <dgm:prSet presAssocID="{B6920C73-B3F9-478A-A418-835228A0EB7F}" presName="spaceRect" presStyleCnt="0"/>
      <dgm:spPr/>
    </dgm:pt>
    <dgm:pt modelId="{912F3358-D0D4-4A1F-9916-0E82296A92DF}" type="pres">
      <dgm:prSet presAssocID="{B6920C73-B3F9-478A-A418-835228A0EB7F}" presName="textRect" presStyleLbl="revTx" presStyleIdx="1" presStyleCnt="2">
        <dgm:presLayoutVars>
          <dgm:chMax val="1"/>
          <dgm:chPref val="1"/>
        </dgm:presLayoutVars>
      </dgm:prSet>
      <dgm:spPr/>
    </dgm:pt>
  </dgm:ptLst>
  <dgm:cxnLst>
    <dgm:cxn modelId="{ED33640B-D466-4900-A897-D56649B59F48}" type="presOf" srcId="{C09C4BBD-EFF9-4F05-B28E-05D102C23919}" destId="{F4DD73B1-D98C-4BF1-AD0F-C569367886D7}" srcOrd="0" destOrd="0" presId="urn:microsoft.com/office/officeart/2018/2/layout/IconLabelList"/>
    <dgm:cxn modelId="{94417132-C2AB-4D17-A356-DE8964086352}" srcId="{49CC4666-2CB1-4B35-8D4F-C70CD3749357}" destId="{C09C4BBD-EFF9-4F05-B28E-05D102C23919}" srcOrd="0" destOrd="0" parTransId="{135CAD47-DD64-4BE1-98A0-3798A7B147A6}" sibTransId="{F02F7EBB-0584-49F0-AA41-920323FA63C2}"/>
    <dgm:cxn modelId="{3692BB3A-7C0C-4A61-AF02-7578ED2EE906}" type="presOf" srcId="{49CC4666-2CB1-4B35-8D4F-C70CD3749357}" destId="{97743FB4-A61D-4398-A11C-AC6B5FE8C842}" srcOrd="0" destOrd="0" presId="urn:microsoft.com/office/officeart/2018/2/layout/IconLabelList"/>
    <dgm:cxn modelId="{8B7FDACE-5EBC-4B00-887D-ABBE1966E2C8}" srcId="{49CC4666-2CB1-4B35-8D4F-C70CD3749357}" destId="{B6920C73-B3F9-478A-A418-835228A0EB7F}" srcOrd="1" destOrd="0" parTransId="{A7EABD33-3EAB-4503-B1BB-07E161047720}" sibTransId="{E8247134-AD21-4C96-9AE8-769BC6194789}"/>
    <dgm:cxn modelId="{73B923F5-2D28-4F08-8030-53E4AF18E82A}" type="presOf" srcId="{B6920C73-B3F9-478A-A418-835228A0EB7F}" destId="{912F3358-D0D4-4A1F-9916-0E82296A92DF}" srcOrd="0" destOrd="0" presId="urn:microsoft.com/office/officeart/2018/2/layout/IconLabelList"/>
    <dgm:cxn modelId="{8273A249-DE08-4748-B75C-F90C6A686EA9}" type="presParOf" srcId="{97743FB4-A61D-4398-A11C-AC6B5FE8C842}" destId="{9E2E4242-3735-4C20-8DD7-0F0F32AB5F61}" srcOrd="0" destOrd="0" presId="urn:microsoft.com/office/officeart/2018/2/layout/IconLabelList"/>
    <dgm:cxn modelId="{E9A8CD5E-8139-4EDE-AA23-382C1B2AFC3C}" type="presParOf" srcId="{9E2E4242-3735-4C20-8DD7-0F0F32AB5F61}" destId="{7DBCCA2A-B684-490B-A24D-2B11537FD1DA}" srcOrd="0" destOrd="0" presId="urn:microsoft.com/office/officeart/2018/2/layout/IconLabelList"/>
    <dgm:cxn modelId="{869B33A3-B9F6-4AF1-9FBA-8AA6B20868D6}" type="presParOf" srcId="{9E2E4242-3735-4C20-8DD7-0F0F32AB5F61}" destId="{65C7F6D3-2CB3-4B8C-9833-C52657721CB0}" srcOrd="1" destOrd="0" presId="urn:microsoft.com/office/officeart/2018/2/layout/IconLabelList"/>
    <dgm:cxn modelId="{48FE53D7-B09B-4080-9BF4-D1CC89F9BA50}" type="presParOf" srcId="{9E2E4242-3735-4C20-8DD7-0F0F32AB5F61}" destId="{F4DD73B1-D98C-4BF1-AD0F-C569367886D7}" srcOrd="2" destOrd="0" presId="urn:microsoft.com/office/officeart/2018/2/layout/IconLabelList"/>
    <dgm:cxn modelId="{DC22E356-8D44-4CE2-B64E-E48F739B1D51}" type="presParOf" srcId="{97743FB4-A61D-4398-A11C-AC6B5FE8C842}" destId="{3A7BB0A6-D352-44DF-B58A-6316A32D76D8}" srcOrd="1" destOrd="0" presId="urn:microsoft.com/office/officeart/2018/2/layout/IconLabelList"/>
    <dgm:cxn modelId="{A652DDCB-C760-4108-B47D-434B9AC1FC22}" type="presParOf" srcId="{97743FB4-A61D-4398-A11C-AC6B5FE8C842}" destId="{01207B8C-11BC-4A82-A852-41A56D05C4F7}" srcOrd="2" destOrd="0" presId="urn:microsoft.com/office/officeart/2018/2/layout/IconLabelList"/>
    <dgm:cxn modelId="{59681C69-8AF3-438E-95F1-BB83EB9E124C}" type="presParOf" srcId="{01207B8C-11BC-4A82-A852-41A56D05C4F7}" destId="{EFC51456-221E-425E-9FD2-14B7F439C3B8}" srcOrd="0" destOrd="0" presId="urn:microsoft.com/office/officeart/2018/2/layout/IconLabelList"/>
    <dgm:cxn modelId="{7BE77F7A-4FEC-4EC2-94BB-15B0FF07D4C9}" type="presParOf" srcId="{01207B8C-11BC-4A82-A852-41A56D05C4F7}" destId="{E3409259-B3FD-4C6B-BFE9-BF5A3C0C7A3B}" srcOrd="1" destOrd="0" presId="urn:microsoft.com/office/officeart/2018/2/layout/IconLabelList"/>
    <dgm:cxn modelId="{4F4E3F94-034D-4E52-95A8-CCAF64553342}" type="presParOf" srcId="{01207B8C-11BC-4A82-A852-41A56D05C4F7}" destId="{912F3358-D0D4-4A1F-9916-0E82296A92D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BCCA2A-B684-490B-A24D-2B11537FD1DA}">
      <dsp:nvSpPr>
        <dsp:cNvPr id="0" name=""/>
        <dsp:cNvSpPr/>
      </dsp:nvSpPr>
      <dsp:spPr>
        <a:xfrm>
          <a:off x="1099810" y="696102"/>
          <a:ext cx="1660500" cy="1660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DD73B1-D98C-4BF1-AD0F-C569367886D7}">
      <dsp:nvSpPr>
        <dsp:cNvPr id="0" name=""/>
        <dsp:cNvSpPr/>
      </dsp:nvSpPr>
      <dsp:spPr>
        <a:xfrm>
          <a:off x="85060" y="2776702"/>
          <a:ext cx="369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55750">
            <a:lnSpc>
              <a:spcPct val="90000"/>
            </a:lnSpc>
            <a:spcBef>
              <a:spcPct val="0"/>
            </a:spcBef>
            <a:spcAft>
              <a:spcPct val="35000"/>
            </a:spcAft>
            <a:buNone/>
          </a:pPr>
          <a:r>
            <a:rPr lang="en-US" sz="3500" kern="1200"/>
            <a:t>Rod Length L = 0.1m</a:t>
          </a:r>
        </a:p>
      </dsp:txBody>
      <dsp:txXfrm>
        <a:off x="85060" y="2776702"/>
        <a:ext cx="3690000" cy="720000"/>
      </dsp:txXfrm>
    </dsp:sp>
    <dsp:sp modelId="{EFC51456-221E-425E-9FD2-14B7F439C3B8}">
      <dsp:nvSpPr>
        <dsp:cNvPr id="0" name=""/>
        <dsp:cNvSpPr/>
      </dsp:nvSpPr>
      <dsp:spPr>
        <a:xfrm>
          <a:off x="5435560" y="696102"/>
          <a:ext cx="1660500" cy="1660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12F3358-D0D4-4A1F-9916-0E82296A92DF}">
      <dsp:nvSpPr>
        <dsp:cNvPr id="0" name=""/>
        <dsp:cNvSpPr/>
      </dsp:nvSpPr>
      <dsp:spPr>
        <a:xfrm>
          <a:off x="4420810" y="2776702"/>
          <a:ext cx="369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55750">
            <a:lnSpc>
              <a:spcPct val="90000"/>
            </a:lnSpc>
            <a:spcBef>
              <a:spcPct val="0"/>
            </a:spcBef>
            <a:spcAft>
              <a:spcPct val="35000"/>
            </a:spcAft>
            <a:buNone/>
          </a:pPr>
          <a:r>
            <a:rPr lang="en-US" sz="3500" kern="1200"/>
            <a:t>11 nodes</a:t>
          </a:r>
        </a:p>
      </dsp:txBody>
      <dsp:txXfrm>
        <a:off x="4420810" y="2776702"/>
        <a:ext cx="369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646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script (~60 sec):</a:t>
            </a:r>
          </a:p>
          <a:p>
            <a:r>
              <a:t>We propose a soft robotic fin modeled as a flexible beam to study how stiffness and actuation shape bending and propulsive performance. Soft propulsion is attractive because it is quieter and safer than rigid propellers. Prior soft fish and foil studies show that fin stiffness and the motion program critically affect thrust and efficiency, and efficient cruising often lies near Strouhal numbers around 0.2 to 0.4. We will build on these findings with a simplified beam model to obtain clear, design-relevant maps from stiffness and actuation to performance.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75161" y="-160543"/>
            <a:ext cx="3172575" cy="3387497"/>
          </a:xfrm>
        </p:spPr>
        <p:txBody>
          <a:bodyPr vert="horz" lIns="91440" tIns="45720" rIns="91440" bIns="45720" rtlCol="0" anchor="b">
            <a:normAutofit/>
          </a:bodyPr>
          <a:lstStyle/>
          <a:p>
            <a:pPr algn="r" defTabSz="914400">
              <a:lnSpc>
                <a:spcPct val="90000"/>
              </a:lnSpc>
            </a:pPr>
            <a:r>
              <a:rPr lang="en-US" sz="3500" kern="1200" dirty="0">
                <a:solidFill>
                  <a:srgbClr val="FFFFFF"/>
                </a:solidFill>
                <a:latin typeface="+mj-lt"/>
                <a:ea typeface="+mj-ea"/>
                <a:cs typeface="+mj-cs"/>
              </a:rPr>
              <a:t>Soft Robotic Fish:</a:t>
            </a:r>
          </a:p>
          <a:p>
            <a:pPr algn="r" defTabSz="914400">
              <a:lnSpc>
                <a:spcPct val="90000"/>
              </a:lnSpc>
            </a:pPr>
            <a:r>
              <a:rPr lang="en-US" sz="3500" kern="1200" dirty="0">
                <a:solidFill>
                  <a:srgbClr val="FFFFFF"/>
                </a:solidFill>
                <a:latin typeface="+mj-lt"/>
                <a:ea typeface="+mj-ea"/>
                <a:cs typeface="+mj-cs"/>
              </a:rPr>
              <a:t>Bending via Flexible Beam Model</a:t>
            </a:r>
          </a:p>
        </p:txBody>
      </p:sp>
      <p:sp>
        <p:nvSpPr>
          <p:cNvPr id="3" name="TextBox 2"/>
          <p:cNvSpPr txBox="1"/>
          <p:nvPr/>
        </p:nvSpPr>
        <p:spPr>
          <a:xfrm>
            <a:off x="212021" y="846360"/>
            <a:ext cx="3646835" cy="5546047"/>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defRPr sz="1600">
                <a:solidFill>
                  <a:srgbClr val="5A5A5A"/>
                </a:solidFill>
              </a:defRPr>
            </a:pPr>
            <a:endParaRPr lang="en-US" sz="1700" dirty="0"/>
          </a:p>
          <a:p>
            <a:pPr indent="-228600" defTabSz="914400">
              <a:lnSpc>
                <a:spcPct val="90000"/>
              </a:lnSpc>
              <a:spcAft>
                <a:spcPts val="600"/>
              </a:spcAft>
              <a:buFont typeface="Arial" panose="020B0604020202020204" pitchFamily="34" charset="0"/>
              <a:buChar char="•"/>
              <a:defRPr sz="1600">
                <a:solidFill>
                  <a:srgbClr val="5A5A5A"/>
                </a:solidFill>
              </a:defRPr>
            </a:pPr>
            <a:r>
              <a:rPr lang="en-US" sz="1700" dirty="0">
                <a:solidFill>
                  <a:schemeClr val="bg1"/>
                </a:solidFill>
              </a:rPr>
              <a:t>MAE-263F Mechanics of Flexible Structures &amp; Soft Robots</a:t>
            </a:r>
            <a:br>
              <a:rPr lang="en-US" sz="1700" dirty="0">
                <a:solidFill>
                  <a:schemeClr val="bg1"/>
                </a:solidFill>
              </a:rPr>
            </a:br>
            <a:r>
              <a:rPr lang="en-US" sz="1700" dirty="0">
                <a:solidFill>
                  <a:schemeClr val="bg1"/>
                </a:solidFill>
              </a:rPr>
              <a:t>Jiajin Cui</a:t>
            </a:r>
          </a:p>
        </p:txBody>
      </p:sp>
      <p:sp>
        <p:nvSpPr>
          <p:cNvPr id="4" name="TextBox 3"/>
          <p:cNvSpPr txBox="1"/>
          <p:nvPr/>
        </p:nvSpPr>
        <p:spPr>
          <a:xfrm>
            <a:off x="4185153" y="2285610"/>
            <a:ext cx="4114800" cy="1461939"/>
          </a:xfrm>
          <a:prstGeom prst="rect">
            <a:avLst/>
          </a:prstGeom>
          <a:noFill/>
        </p:spPr>
        <p:txBody>
          <a:bodyPr wrap="square">
            <a:spAutoFit/>
          </a:bodyPr>
          <a:lstStyle/>
          <a:p>
            <a:pPr>
              <a:spcAft>
                <a:spcPts val="600"/>
              </a:spcAft>
              <a:defRPr sz="2000" b="1"/>
            </a:pPr>
            <a:r>
              <a:rPr lang="en-US" dirty="0"/>
              <a:t>Problem</a:t>
            </a:r>
          </a:p>
          <a:p>
            <a:pPr lvl="1">
              <a:spcAft>
                <a:spcPts val="600"/>
              </a:spcAft>
              <a:defRPr sz="1600"/>
            </a:pPr>
            <a:r>
              <a:rPr lang="en-US" dirty="0"/>
              <a:t>Previous soft robotic fish simulations usually requires complex computation such as computational fluid dynamics, and finite element analysis.</a:t>
            </a:r>
          </a:p>
        </p:txBody>
      </p:sp>
      <p:sp>
        <p:nvSpPr>
          <p:cNvPr id="5" name="TextBox 4">
            <a:extLst>
              <a:ext uri="{FF2B5EF4-FFF2-40B4-BE49-F238E27FC236}">
                <a16:creationId xmlns:a16="http://schemas.microsoft.com/office/drawing/2014/main" id="{6A78E9FC-2853-16B5-71F7-35D55A9131C5}"/>
              </a:ext>
            </a:extLst>
          </p:cNvPr>
          <p:cNvSpPr txBox="1"/>
          <p:nvPr/>
        </p:nvSpPr>
        <p:spPr>
          <a:xfrm>
            <a:off x="4185153" y="3840835"/>
            <a:ext cx="4114800" cy="1461939"/>
          </a:xfrm>
          <a:prstGeom prst="rect">
            <a:avLst/>
          </a:prstGeom>
          <a:noFill/>
        </p:spPr>
        <p:txBody>
          <a:bodyPr wrap="square">
            <a:spAutoFit/>
          </a:bodyPr>
          <a:lstStyle/>
          <a:p>
            <a:pPr>
              <a:spcAft>
                <a:spcPts val="600"/>
              </a:spcAft>
              <a:defRPr sz="2000" b="1"/>
            </a:pPr>
            <a:r>
              <a:rPr lang="en-US" dirty="0"/>
              <a:t>Motivation</a:t>
            </a:r>
          </a:p>
          <a:p>
            <a:pPr lvl="1">
              <a:spcAft>
                <a:spcPts val="600"/>
              </a:spcAft>
              <a:defRPr sz="1600"/>
            </a:pPr>
            <a:r>
              <a:rPr lang="en-US" dirty="0"/>
              <a:t>Using Euler-Bernoulli to model the fish as a spring-node network with a time-varying curvature to simulate the movement of a bionic fish</a:t>
            </a:r>
          </a:p>
        </p:txBody>
      </p:sp>
      <p:sp>
        <p:nvSpPr>
          <p:cNvPr id="8" name="TextBox 7">
            <a:extLst>
              <a:ext uri="{FF2B5EF4-FFF2-40B4-BE49-F238E27FC236}">
                <a16:creationId xmlns:a16="http://schemas.microsoft.com/office/drawing/2014/main" id="{94FF2708-D49A-72F6-3F14-6BCCA5E1A0CD}"/>
              </a:ext>
            </a:extLst>
          </p:cNvPr>
          <p:cNvSpPr txBox="1"/>
          <p:nvPr/>
        </p:nvSpPr>
        <p:spPr>
          <a:xfrm>
            <a:off x="4175953" y="344711"/>
            <a:ext cx="4858577" cy="1754326"/>
          </a:xfrm>
          <a:prstGeom prst="rect">
            <a:avLst/>
          </a:prstGeom>
          <a:noFill/>
        </p:spPr>
        <p:txBody>
          <a:bodyPr wrap="square" rtlCol="0">
            <a:spAutoFit/>
          </a:bodyPr>
          <a:lstStyle/>
          <a:p>
            <a:r>
              <a:rPr lang="en-US" dirty="0"/>
              <a:t>Previous Studies</a:t>
            </a:r>
          </a:p>
          <a:p>
            <a:pPr marL="342900" indent="-342900">
              <a:buAutoNum type="arabicPeriod"/>
            </a:pPr>
            <a:r>
              <a:rPr lang="en-US" dirty="0"/>
              <a:t>FEM-based soft robots (</a:t>
            </a:r>
            <a:r>
              <a:rPr lang="en-US" dirty="0" err="1"/>
              <a:t>Katzschmann</a:t>
            </a:r>
            <a:r>
              <a:rPr lang="en-US" dirty="0"/>
              <a:t> et al.)</a:t>
            </a:r>
          </a:p>
          <a:p>
            <a:pPr marL="342900" indent="-342900">
              <a:buAutoNum type="arabicPeriod"/>
            </a:pPr>
            <a:r>
              <a:rPr lang="en-US" dirty="0"/>
              <a:t>stiffness–thrust relationships (Esposito et al.)</a:t>
            </a:r>
          </a:p>
          <a:p>
            <a:pPr marL="342900" indent="-342900">
              <a:buAutoNum type="arabicPeriod"/>
            </a:pPr>
            <a:r>
              <a:rPr lang="en-US" dirty="0"/>
              <a:t>tunable stiffness (Zhong et al.)</a:t>
            </a:r>
          </a:p>
          <a:p>
            <a:pPr marL="342900" indent="-342900">
              <a:buAutoNum type="arabicPeriod"/>
            </a:pPr>
            <a:r>
              <a:rPr lang="en-US" dirty="0"/>
              <a:t>hydrodynamics platforms (Lauder)</a:t>
            </a:r>
          </a:p>
          <a:p>
            <a:pPr marL="342900" indent="-342900">
              <a:buAutoNum type="arabicPeriod"/>
            </a:pPr>
            <a:r>
              <a:rPr lang="en-US" dirty="0"/>
              <a:t>Strouhal number theory (Eloy)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992C4-8EDD-FB82-69FE-8E1191581951}"/>
              </a:ext>
            </a:extLst>
          </p:cNvPr>
          <p:cNvSpPr>
            <a:spLocks noGrp="1"/>
          </p:cNvSpPr>
          <p:nvPr>
            <p:ph type="title"/>
          </p:nvPr>
        </p:nvSpPr>
        <p:spPr/>
        <p:txBody>
          <a:bodyPr/>
          <a:lstStyle/>
          <a:p>
            <a:r>
              <a:rPr lang="en-US" dirty="0"/>
              <a:t>The scope</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5C1208D6-C15A-A7C0-95C5-2452047DF54B}"/>
                  </a:ext>
                </a:extLst>
              </p:cNvPr>
              <p:cNvSpPr txBox="1"/>
              <p:nvPr/>
            </p:nvSpPr>
            <p:spPr>
              <a:xfrm>
                <a:off x="110269" y="1563853"/>
                <a:ext cx="4572000" cy="4247317"/>
              </a:xfrm>
              <a:prstGeom prst="rect">
                <a:avLst/>
              </a:prstGeom>
              <a:noFill/>
            </p:spPr>
            <p:txBody>
              <a:bodyPr wrap="square">
                <a:spAutoFit/>
              </a:bodyPr>
              <a:lstStyle/>
              <a:p>
                <a:r>
                  <a:rPr lang="en-US" dirty="0"/>
                  <a:t>11 nodes</a:t>
                </a:r>
              </a:p>
              <a:p>
                <a:r>
                  <a:rPr lang="en-US" dirty="0"/>
                  <a:t>Internal curvature actuation</a:t>
                </a:r>
              </a:p>
              <a:p>
                <a:r>
                  <a:rPr lang="en-US" dirty="0"/>
                  <a:t>Reproducing curvature wave</a:t>
                </a:r>
              </a:p>
              <a:p>
                <a:endParaRPr lang="en-US" dirty="0"/>
              </a:p>
              <a:p>
                <a:endParaRPr lang="en-US" dirty="0"/>
              </a:p>
              <a:p>
                <a:r>
                  <a:rPr lang="en-US" b="1" dirty="0"/>
                  <a:t>Parameter Sweeps</a:t>
                </a:r>
                <a:endParaRPr lang="en-US" dirty="0"/>
              </a:p>
              <a:p>
                <a:r>
                  <a:rPr lang="en-US" dirty="0"/>
                  <a:t>Run simulations over ranges of:</a:t>
                </a:r>
              </a:p>
              <a:p>
                <a:pPr lvl="1"/>
                <a:r>
                  <a:rPr lang="en-US" dirty="0"/>
                  <a:t>Stiffness values (EI, EA)</a:t>
                </a:r>
              </a:p>
              <a:p>
                <a:pPr lvl="1"/>
                <a:r>
                  <a:rPr lang="en-US" dirty="0"/>
                  <a:t>Actuation frequency </a:t>
                </a:r>
                <a14:m>
                  <m:oMath xmlns:m="http://schemas.openxmlformats.org/officeDocument/2006/math">
                    <m:r>
                      <a:rPr lang="en-US" b="0" i="1" smtClean="0">
                        <a:latin typeface="Cambria Math" panose="02040503050406030204" pitchFamily="18" charset="0"/>
                      </a:rPr>
                      <m:t>𝑓</m:t>
                    </m:r>
                  </m:oMath>
                </a14:m>
                <a:endParaRPr lang="en-US" dirty="0"/>
              </a:p>
              <a:p>
                <a:pPr lvl="1"/>
                <a:r>
                  <a:rPr lang="en-US" dirty="0"/>
                  <a:t>Actuation amplitude </a:t>
                </a:r>
                <a14:m>
                  <m:oMath xmlns:m="http://schemas.openxmlformats.org/officeDocument/2006/math">
                    <m:sSub>
                      <m:sSubPr>
                        <m:ctrlPr>
                          <a:rPr lang="ar-AE" i="1">
                            <a:latin typeface="Cambria Math" panose="02040503050406030204" pitchFamily="18" charset="0"/>
                          </a:rPr>
                        </m:ctrlPr>
                      </m:sSubPr>
                      <m:e>
                        <m:r>
                          <a:rPr lang="ar-AE" b="0" i="1" smtClean="0">
                            <a:latin typeface="Cambria Math" panose="02040503050406030204" pitchFamily="18" charset="0"/>
                          </a:rPr>
                          <m:t>𝐴</m:t>
                        </m:r>
                      </m:e>
                      <m:sub>
                        <m:r>
                          <a:rPr lang="ar-AE" b="0" smtClean="0">
                            <a:latin typeface="Cambria Math" panose="02040503050406030204" pitchFamily="18" charset="0"/>
                          </a:rPr>
                          <m:t>0</m:t>
                        </m:r>
                      </m:sub>
                    </m:sSub>
                  </m:oMath>
                </a14:m>
                <a:endParaRPr lang="ar-AE" dirty="0"/>
              </a:p>
              <a:p>
                <a:pPr lvl="1"/>
                <a:r>
                  <a:rPr lang="en-US" dirty="0"/>
                  <a:t>Spatial wave numbers </a:t>
                </a:r>
                <a14:m>
                  <m:oMath xmlns:m="http://schemas.openxmlformats.org/officeDocument/2006/math">
                    <m:r>
                      <a:rPr lang="en-US" i="1">
                        <a:latin typeface="Cambria Math" panose="02040503050406030204" pitchFamily="18" charset="0"/>
                      </a:rPr>
                      <m:t>𝑘</m:t>
                    </m:r>
                  </m:oMath>
                </a14:m>
                <a:endParaRPr lang="en-US" dirty="0"/>
              </a:p>
              <a:p>
                <a:r>
                  <a:rPr lang="en-US" dirty="0"/>
                  <a:t>Record how these affect:</a:t>
                </a:r>
              </a:p>
              <a:p>
                <a:pPr lvl="1"/>
                <a:r>
                  <a:rPr lang="en-US" dirty="0"/>
                  <a:t>Tail-tip amplitude</a:t>
                </a:r>
              </a:p>
              <a:p>
                <a:pPr lvl="1"/>
                <a:r>
                  <a:rPr lang="en-US" dirty="0"/>
                  <a:t>Propagation speed of curvature</a:t>
                </a:r>
              </a:p>
              <a:p>
                <a:pPr lvl="1"/>
                <a:r>
                  <a:rPr lang="en-US" dirty="0"/>
                  <a:t>Overall deformation pattern</a:t>
                </a:r>
              </a:p>
            </p:txBody>
          </p:sp>
        </mc:Choice>
        <mc:Fallback>
          <p:sp>
            <p:nvSpPr>
              <p:cNvPr id="14" name="TextBox 13">
                <a:extLst>
                  <a:ext uri="{FF2B5EF4-FFF2-40B4-BE49-F238E27FC236}">
                    <a16:creationId xmlns:a16="http://schemas.microsoft.com/office/drawing/2014/main" id="{5C1208D6-C15A-A7C0-95C5-2452047DF54B}"/>
                  </a:ext>
                </a:extLst>
              </p:cNvPr>
              <p:cNvSpPr txBox="1">
                <a:spLocks noRot="1" noChangeAspect="1" noMove="1" noResize="1" noEditPoints="1" noAdjustHandles="1" noChangeArrowheads="1" noChangeShapeType="1" noTextEdit="1"/>
              </p:cNvSpPr>
              <p:nvPr/>
            </p:nvSpPr>
            <p:spPr>
              <a:xfrm>
                <a:off x="110269" y="1563853"/>
                <a:ext cx="4572000" cy="4247317"/>
              </a:xfrm>
              <a:prstGeom prst="rect">
                <a:avLst/>
              </a:prstGeom>
              <a:blipFill>
                <a:blip r:embed="rId2"/>
                <a:stretch>
                  <a:fillRect l="-1108" t="-896" b="-1194"/>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647B4EA5-FBE8-87F4-B01C-D46A28EE5211}"/>
              </a:ext>
            </a:extLst>
          </p:cNvPr>
          <p:cNvPicPr>
            <a:picLocks noChangeAspect="1"/>
          </p:cNvPicPr>
          <p:nvPr/>
        </p:nvPicPr>
        <p:blipFill>
          <a:blip r:embed="rId3"/>
          <a:stretch>
            <a:fillRect/>
          </a:stretch>
        </p:blipFill>
        <p:spPr>
          <a:xfrm>
            <a:off x="4997888" y="3429000"/>
            <a:ext cx="2843633" cy="258512"/>
          </a:xfrm>
          <a:prstGeom prst="rect">
            <a:avLst/>
          </a:prstGeom>
        </p:spPr>
      </p:pic>
      <p:pic>
        <p:nvPicPr>
          <p:cNvPr id="16" name="Picture 15" descr="A black text with a smiley face&#10;&#10;AI-generated content may be incorrect.">
            <a:extLst>
              <a:ext uri="{FF2B5EF4-FFF2-40B4-BE49-F238E27FC236}">
                <a16:creationId xmlns:a16="http://schemas.microsoft.com/office/drawing/2014/main" id="{4D29E134-BF91-E7F1-B02F-EFFC37EB5403}"/>
              </a:ext>
            </a:extLst>
          </p:cNvPr>
          <p:cNvPicPr>
            <a:picLocks noChangeAspect="1"/>
          </p:cNvPicPr>
          <p:nvPr/>
        </p:nvPicPr>
        <p:blipFill>
          <a:blip r:embed="rId4"/>
          <a:stretch>
            <a:fillRect/>
          </a:stretch>
        </p:blipFill>
        <p:spPr>
          <a:xfrm>
            <a:off x="5378305" y="4356501"/>
            <a:ext cx="2082800" cy="444500"/>
          </a:xfrm>
          <a:prstGeom prst="rect">
            <a:avLst/>
          </a:prstGeom>
        </p:spPr>
      </p:pic>
    </p:spTree>
    <p:extLst>
      <p:ext uri="{BB962C8B-B14F-4D97-AF65-F5344CB8AC3E}">
        <p14:creationId xmlns:p14="http://schemas.microsoft.com/office/powerpoint/2010/main" val="848326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73A43-E274-9DC2-C871-B1B55DE49C97}"/>
              </a:ext>
            </a:extLst>
          </p:cNvPr>
          <p:cNvSpPr>
            <a:spLocks noGrp="1"/>
          </p:cNvSpPr>
          <p:nvPr>
            <p:ph type="title"/>
          </p:nvPr>
        </p:nvSpPr>
        <p:spPr>
          <a:xfrm>
            <a:off x="840699" y="687480"/>
            <a:ext cx="5605629" cy="994172"/>
          </a:xfrm>
        </p:spPr>
        <p:txBody>
          <a:bodyPr vert="horz" lIns="91440" tIns="45720" rIns="91440" bIns="45720" rtlCol="0" anchor="ctr">
            <a:normAutofit/>
          </a:bodyPr>
          <a:lstStyle/>
          <a:p>
            <a:pPr algn="l" defTabSz="914400">
              <a:lnSpc>
                <a:spcPct val="90000"/>
              </a:lnSpc>
            </a:pPr>
            <a:r>
              <a:rPr lang="en-US" sz="3850" dirty="0"/>
              <a:t>Default Parameters</a:t>
            </a:r>
            <a:endParaRPr lang="en-US" sz="3850" kern="1200" dirty="0">
              <a:solidFill>
                <a:schemeClr val="tx1"/>
              </a:solidFill>
              <a:latin typeface="+mj-lt"/>
              <a:ea typeface="+mj-ea"/>
              <a:cs typeface="+mj-cs"/>
            </a:endParaRPr>
          </a:p>
        </p:txBody>
      </p:sp>
      <p:sp>
        <p:nvSpPr>
          <p:cNvPr id="17" name="TextBox 16">
            <a:extLst>
              <a:ext uri="{FF2B5EF4-FFF2-40B4-BE49-F238E27FC236}">
                <a16:creationId xmlns:a16="http://schemas.microsoft.com/office/drawing/2014/main" id="{4AD070F2-AB94-7F6D-EE23-20499746B4E5}"/>
              </a:ext>
            </a:extLst>
          </p:cNvPr>
          <p:cNvSpPr txBox="1"/>
          <p:nvPr/>
        </p:nvSpPr>
        <p:spPr>
          <a:xfrm>
            <a:off x="497823" y="1081531"/>
            <a:ext cx="5033221" cy="3788227"/>
          </a:xfrm>
          <a:prstGeom prst="rect">
            <a:avLst/>
          </a:prstGeom>
        </p:spPr>
        <p:txBody>
          <a:bodyPr vert="horz" lIns="91440" tIns="45720" rIns="91440" bIns="45720" rtlCol="0" anchor="ctr">
            <a:normAutofit/>
          </a:bodyPr>
          <a:lstStyle/>
          <a:p>
            <a:pPr indent="-228600" defTabSz="914400">
              <a:lnSpc>
                <a:spcPct val="90000"/>
              </a:lnSpc>
              <a:spcAft>
                <a:spcPts val="600"/>
              </a:spcAft>
              <a:buFont typeface="Arial" panose="020B0604020202020204" pitchFamily="34" charset="0"/>
              <a:buChar char="•"/>
            </a:pPr>
            <a:endParaRPr lang="en-US" sz="2100" dirty="0"/>
          </a:p>
          <a:p>
            <a:pPr indent="-228600" defTabSz="914400">
              <a:lnSpc>
                <a:spcPct val="90000"/>
              </a:lnSpc>
              <a:spcAft>
                <a:spcPts val="600"/>
              </a:spcAft>
              <a:buFont typeface="Arial" panose="020B0604020202020204" pitchFamily="34" charset="0"/>
              <a:buChar char="•"/>
            </a:pPr>
            <a:r>
              <a:rPr lang="en-US" sz="2100" dirty="0"/>
              <a:t>Default Stiffness EI = 7.854e-04 N·m²</a:t>
            </a:r>
          </a:p>
          <a:p>
            <a:pPr indent="-228600" defTabSz="914400">
              <a:lnSpc>
                <a:spcPct val="90000"/>
              </a:lnSpc>
              <a:spcAft>
                <a:spcPts val="600"/>
              </a:spcAft>
              <a:buFont typeface="Arial" panose="020B0604020202020204" pitchFamily="34" charset="0"/>
              <a:buChar char="•"/>
            </a:pPr>
            <a:endParaRPr lang="en-US" sz="2100" dirty="0"/>
          </a:p>
          <a:p>
            <a:pPr indent="-228600" defTabSz="914400">
              <a:lnSpc>
                <a:spcPct val="90000"/>
              </a:lnSpc>
              <a:spcAft>
                <a:spcPts val="600"/>
              </a:spcAft>
              <a:buFont typeface="Arial" panose="020B0604020202020204" pitchFamily="34" charset="0"/>
              <a:buChar char="•"/>
            </a:pPr>
            <a:r>
              <a:rPr lang="en-US" sz="2100" dirty="0"/>
              <a:t>Default frequency = 0.5 Hz</a:t>
            </a:r>
          </a:p>
          <a:p>
            <a:pPr indent="-228600" defTabSz="914400">
              <a:lnSpc>
                <a:spcPct val="90000"/>
              </a:lnSpc>
              <a:spcAft>
                <a:spcPts val="600"/>
              </a:spcAft>
              <a:buFont typeface="Arial" panose="020B0604020202020204" pitchFamily="34" charset="0"/>
              <a:buChar char="•"/>
            </a:pPr>
            <a:endParaRPr lang="en-US" sz="2100" dirty="0"/>
          </a:p>
          <a:p>
            <a:pPr indent="-228600" defTabSz="914400">
              <a:lnSpc>
                <a:spcPct val="90000"/>
              </a:lnSpc>
              <a:spcAft>
                <a:spcPts val="600"/>
              </a:spcAft>
              <a:buFont typeface="Arial" panose="020B0604020202020204" pitchFamily="34" charset="0"/>
              <a:buChar char="•"/>
            </a:pPr>
            <a:r>
              <a:rPr lang="en-US" sz="2100" dirty="0"/>
              <a:t>Default Amplitude = 1.5 m⁻¹</a:t>
            </a:r>
          </a:p>
          <a:p>
            <a:pPr defTabSz="914400">
              <a:lnSpc>
                <a:spcPct val="90000"/>
              </a:lnSpc>
              <a:spcAft>
                <a:spcPts val="600"/>
              </a:spcAft>
            </a:pPr>
            <a:endParaRPr lang="en-US" sz="2100" dirty="0"/>
          </a:p>
          <a:p>
            <a:pPr indent="-228600" defTabSz="914400">
              <a:lnSpc>
                <a:spcPct val="90000"/>
              </a:lnSpc>
              <a:spcAft>
                <a:spcPts val="600"/>
              </a:spcAft>
              <a:buFont typeface="Arial" panose="020B0604020202020204" pitchFamily="34" charset="0"/>
              <a:buChar char="•"/>
            </a:pPr>
            <a:r>
              <a:rPr lang="en-US" sz="2100" dirty="0"/>
              <a:t>Default wave number = 10.0 rad/m</a:t>
            </a: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194499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42E892-3AED-8454-1442-8C276F1E99DA}"/>
              </a:ext>
            </a:extLst>
          </p:cNvPr>
          <p:cNvSpPr>
            <a:spLocks noGrp="1"/>
          </p:cNvSpPr>
          <p:nvPr>
            <p:ph type="title"/>
          </p:nvPr>
        </p:nvSpPr>
        <p:spPr>
          <a:xfrm>
            <a:off x="1028697" y="348865"/>
            <a:ext cx="7533018" cy="877729"/>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Geometry</a:t>
            </a:r>
          </a:p>
        </p:txBody>
      </p:sp>
      <p:graphicFrame>
        <p:nvGraphicFramePr>
          <p:cNvPr id="5" name="TextBox 2">
            <a:extLst>
              <a:ext uri="{FF2B5EF4-FFF2-40B4-BE49-F238E27FC236}">
                <a16:creationId xmlns:a16="http://schemas.microsoft.com/office/drawing/2014/main" id="{9AB33F16-A9F6-8A4F-6705-09BD89A23BC6}"/>
              </a:ext>
            </a:extLst>
          </p:cNvPr>
          <p:cNvGraphicFramePr/>
          <p:nvPr>
            <p:extLst>
              <p:ext uri="{D42A27DB-BD31-4B8C-83A1-F6EECF244321}">
                <p14:modId xmlns:p14="http://schemas.microsoft.com/office/powerpoint/2010/main" val="3226690558"/>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46923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AA46CE-41D3-8879-9D97-EB283B56C002}"/>
              </a:ext>
            </a:extLst>
          </p:cNvPr>
          <p:cNvSpPr>
            <a:spLocks noGrp="1"/>
          </p:cNvSpPr>
          <p:nvPr>
            <p:ph type="title"/>
          </p:nvPr>
        </p:nvSpPr>
        <p:spPr>
          <a:xfrm>
            <a:off x="6950931" y="2023110"/>
            <a:ext cx="1852218" cy="2846070"/>
          </a:xfrm>
        </p:spPr>
        <p:txBody>
          <a:bodyPr vert="horz" lIns="91440" tIns="45720" rIns="91440" bIns="45720" rtlCol="0" anchor="ctr">
            <a:normAutofit/>
          </a:bodyPr>
          <a:lstStyle/>
          <a:p>
            <a:pPr algn="l" defTabSz="914400">
              <a:lnSpc>
                <a:spcPct val="90000"/>
              </a:lnSpc>
            </a:pPr>
            <a:r>
              <a:rPr lang="en-US" sz="3200" dirty="0"/>
              <a:t>Code</a:t>
            </a:r>
            <a:endParaRPr lang="en-US" sz="3200" kern="1200" dirty="0">
              <a:solidFill>
                <a:schemeClr val="tx1"/>
              </a:solidFill>
              <a:latin typeface="+mj-lt"/>
              <a:ea typeface="+mj-ea"/>
              <a:cs typeface="+mj-cs"/>
            </a:endParaRPr>
          </a:p>
        </p:txBody>
      </p:sp>
      <p:sp>
        <p:nvSpPr>
          <p:cNvPr id="17" name="Rectangle 1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361045" y="245695"/>
            <a:ext cx="1715478" cy="643756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6563" y="664308"/>
            <a:ext cx="6061974"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E725302-D62A-40FC-4B3D-061DE9571E4D}"/>
              </a:ext>
            </a:extLst>
          </p:cNvPr>
          <p:cNvPicPr>
            <a:picLocks noChangeAspect="1"/>
          </p:cNvPicPr>
          <p:nvPr/>
        </p:nvPicPr>
        <p:blipFill>
          <a:blip r:embed="rId2"/>
          <a:stretch>
            <a:fillRect/>
          </a:stretch>
        </p:blipFill>
        <p:spPr>
          <a:xfrm>
            <a:off x="408928" y="1374572"/>
            <a:ext cx="5706228" cy="4179812"/>
          </a:xfrm>
          <a:prstGeom prst="rect">
            <a:avLst/>
          </a:prstGeom>
        </p:spPr>
      </p:pic>
      <p:sp>
        <p:nvSpPr>
          <p:cNvPr id="21" name="Rectangle 20">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747951" y="3411145"/>
            <a:ext cx="1719072"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5948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E4835-B71F-D8C7-0E1C-9F8264FBCB0D}"/>
              </a:ext>
            </a:extLst>
          </p:cNvPr>
          <p:cNvSpPr>
            <a:spLocks noGrp="1"/>
          </p:cNvSpPr>
          <p:nvPr>
            <p:ph type="title"/>
          </p:nvPr>
        </p:nvSpPr>
        <p:spPr/>
        <p:txBody>
          <a:bodyPr/>
          <a:lstStyle/>
          <a:p>
            <a:r>
              <a:rPr lang="en-US" dirty="0"/>
              <a:t>The motion of a single simulation</a:t>
            </a:r>
          </a:p>
        </p:txBody>
      </p:sp>
      <p:pic>
        <p:nvPicPr>
          <p:cNvPr id="3" name="Picture 2">
            <a:extLst>
              <a:ext uri="{FF2B5EF4-FFF2-40B4-BE49-F238E27FC236}">
                <a16:creationId xmlns:a16="http://schemas.microsoft.com/office/drawing/2014/main" id="{6E088A84-F09A-8360-A6FA-721C7B51A3E5}"/>
              </a:ext>
            </a:extLst>
          </p:cNvPr>
          <p:cNvPicPr>
            <a:picLocks noChangeAspect="1"/>
          </p:cNvPicPr>
          <p:nvPr/>
        </p:nvPicPr>
        <p:blipFill>
          <a:blip r:embed="rId2"/>
          <a:stretch>
            <a:fillRect/>
          </a:stretch>
        </p:blipFill>
        <p:spPr>
          <a:xfrm>
            <a:off x="267528" y="2156904"/>
            <a:ext cx="2193705" cy="1327191"/>
          </a:xfrm>
          <a:prstGeom prst="rect">
            <a:avLst/>
          </a:prstGeom>
        </p:spPr>
      </p:pic>
      <p:pic>
        <p:nvPicPr>
          <p:cNvPr id="4" name="Picture 3">
            <a:extLst>
              <a:ext uri="{FF2B5EF4-FFF2-40B4-BE49-F238E27FC236}">
                <a16:creationId xmlns:a16="http://schemas.microsoft.com/office/drawing/2014/main" id="{C80A5629-CED0-7579-4405-2C755439086C}"/>
              </a:ext>
            </a:extLst>
          </p:cNvPr>
          <p:cNvPicPr>
            <a:picLocks noChangeAspect="1"/>
          </p:cNvPicPr>
          <p:nvPr/>
        </p:nvPicPr>
        <p:blipFill>
          <a:blip r:embed="rId3"/>
          <a:stretch>
            <a:fillRect/>
          </a:stretch>
        </p:blipFill>
        <p:spPr>
          <a:xfrm>
            <a:off x="2864122" y="2129409"/>
            <a:ext cx="2221242" cy="1327191"/>
          </a:xfrm>
          <a:prstGeom prst="rect">
            <a:avLst/>
          </a:prstGeom>
        </p:spPr>
      </p:pic>
      <p:pic>
        <p:nvPicPr>
          <p:cNvPr id="5" name="Picture 4">
            <a:extLst>
              <a:ext uri="{FF2B5EF4-FFF2-40B4-BE49-F238E27FC236}">
                <a16:creationId xmlns:a16="http://schemas.microsoft.com/office/drawing/2014/main" id="{28258EB4-7656-99DD-8ABF-A35A7DC646BE}"/>
              </a:ext>
            </a:extLst>
          </p:cNvPr>
          <p:cNvPicPr>
            <a:picLocks noChangeAspect="1"/>
          </p:cNvPicPr>
          <p:nvPr/>
        </p:nvPicPr>
        <p:blipFill>
          <a:blip r:embed="rId4"/>
          <a:stretch>
            <a:fillRect/>
          </a:stretch>
        </p:blipFill>
        <p:spPr>
          <a:xfrm>
            <a:off x="239991" y="3581908"/>
            <a:ext cx="2221242" cy="1327191"/>
          </a:xfrm>
          <a:prstGeom prst="rect">
            <a:avLst/>
          </a:prstGeom>
        </p:spPr>
      </p:pic>
      <p:pic>
        <p:nvPicPr>
          <p:cNvPr id="6" name="Picture 5">
            <a:extLst>
              <a:ext uri="{FF2B5EF4-FFF2-40B4-BE49-F238E27FC236}">
                <a16:creationId xmlns:a16="http://schemas.microsoft.com/office/drawing/2014/main" id="{87D075C6-C373-B221-02C7-C421FA597F2B}"/>
              </a:ext>
            </a:extLst>
          </p:cNvPr>
          <p:cNvPicPr>
            <a:picLocks noChangeAspect="1"/>
          </p:cNvPicPr>
          <p:nvPr/>
        </p:nvPicPr>
        <p:blipFill>
          <a:blip r:embed="rId5"/>
          <a:stretch>
            <a:fillRect/>
          </a:stretch>
        </p:blipFill>
        <p:spPr>
          <a:xfrm>
            <a:off x="2894662" y="3680801"/>
            <a:ext cx="2232891" cy="1334151"/>
          </a:xfrm>
          <a:prstGeom prst="rect">
            <a:avLst/>
          </a:prstGeom>
        </p:spPr>
      </p:pic>
      <p:pic>
        <p:nvPicPr>
          <p:cNvPr id="7" name="Picture 6">
            <a:extLst>
              <a:ext uri="{FF2B5EF4-FFF2-40B4-BE49-F238E27FC236}">
                <a16:creationId xmlns:a16="http://schemas.microsoft.com/office/drawing/2014/main" id="{D33DBD99-1D62-4140-F534-5D99A8A3DB5E}"/>
              </a:ext>
            </a:extLst>
          </p:cNvPr>
          <p:cNvPicPr>
            <a:picLocks noChangeAspect="1"/>
          </p:cNvPicPr>
          <p:nvPr/>
        </p:nvPicPr>
        <p:blipFill>
          <a:blip r:embed="rId6"/>
          <a:stretch>
            <a:fillRect/>
          </a:stretch>
        </p:blipFill>
        <p:spPr>
          <a:xfrm>
            <a:off x="5167967" y="1807163"/>
            <a:ext cx="3708505" cy="4466721"/>
          </a:xfrm>
          <a:prstGeom prst="rect">
            <a:avLst/>
          </a:prstGeom>
        </p:spPr>
      </p:pic>
    </p:spTree>
    <p:extLst>
      <p:ext uri="{BB962C8B-B14F-4D97-AF65-F5344CB8AC3E}">
        <p14:creationId xmlns:p14="http://schemas.microsoft.com/office/powerpoint/2010/main" val="1628042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D3683F-0F01-7887-ABAE-58D603AEF90C}"/>
              </a:ext>
            </a:extLst>
          </p:cNvPr>
          <p:cNvSpPr>
            <a:spLocks noGrp="1"/>
          </p:cNvSpPr>
          <p:nvPr>
            <p:ph type="title"/>
          </p:nvPr>
        </p:nvSpPr>
        <p:spPr>
          <a:xfrm>
            <a:off x="417399" y="643467"/>
            <a:ext cx="8408193" cy="744836"/>
          </a:xfrm>
        </p:spPr>
        <p:txBody>
          <a:bodyPr>
            <a:normAutofit/>
          </a:bodyPr>
          <a:lstStyle/>
          <a:p>
            <a:r>
              <a:rPr lang="en-US" sz="2800">
                <a:solidFill>
                  <a:schemeClr val="bg1"/>
                </a:solidFill>
              </a:rPr>
              <a:t>Parameter Sweep</a:t>
            </a:r>
          </a:p>
        </p:txBody>
      </p:sp>
      <p:pic>
        <p:nvPicPr>
          <p:cNvPr id="4" name="Picture 3" descr="A computer screen with text&#10;&#10;AI-generated content may be incorrect.">
            <a:extLst>
              <a:ext uri="{FF2B5EF4-FFF2-40B4-BE49-F238E27FC236}">
                <a16:creationId xmlns:a16="http://schemas.microsoft.com/office/drawing/2014/main" id="{0BA86707-E945-0194-46FD-ED9069ED6A1D}"/>
              </a:ext>
            </a:extLst>
          </p:cNvPr>
          <p:cNvPicPr>
            <a:picLocks noChangeAspect="1"/>
          </p:cNvPicPr>
          <p:nvPr/>
        </p:nvPicPr>
        <p:blipFill>
          <a:blip r:embed="rId2"/>
          <a:stretch>
            <a:fillRect/>
          </a:stretch>
        </p:blipFill>
        <p:spPr>
          <a:xfrm>
            <a:off x="482600" y="3013553"/>
            <a:ext cx="8178799" cy="1717546"/>
          </a:xfrm>
          <a:prstGeom prst="rect">
            <a:avLst/>
          </a:prstGeom>
        </p:spPr>
      </p:pic>
    </p:spTree>
    <p:extLst>
      <p:ext uri="{BB962C8B-B14F-4D97-AF65-F5344CB8AC3E}">
        <p14:creationId xmlns:p14="http://schemas.microsoft.com/office/powerpoint/2010/main" val="3101176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57306A-233F-3BAD-3C62-AB05E15ED1A1}"/>
              </a:ext>
            </a:extLst>
          </p:cNvPr>
          <p:cNvSpPr>
            <a:spLocks noGrp="1"/>
          </p:cNvSpPr>
          <p:nvPr>
            <p:ph type="title"/>
          </p:nvPr>
        </p:nvSpPr>
        <p:spPr>
          <a:xfrm>
            <a:off x="473202" y="639520"/>
            <a:ext cx="2571750" cy="1719072"/>
          </a:xfrm>
        </p:spPr>
        <p:txBody>
          <a:bodyPr vert="horz" lIns="91440" tIns="45720" rIns="91440" bIns="45720" rtlCol="0" anchor="b">
            <a:normAutofit/>
          </a:bodyPr>
          <a:lstStyle/>
          <a:p>
            <a:pPr algn="l" defTabSz="914400">
              <a:lnSpc>
                <a:spcPct val="90000"/>
              </a:lnSpc>
            </a:pPr>
            <a:r>
              <a:rPr lang="en-US" sz="4700" kern="1200" dirty="0">
                <a:solidFill>
                  <a:schemeClr val="tx1"/>
                </a:solidFill>
                <a:latin typeface="+mj-lt"/>
                <a:ea typeface="+mj-ea"/>
                <a:cs typeface="+mj-cs"/>
              </a:rPr>
              <a:t>Findings</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71215B7-4629-76E5-7261-5EC3A01D50F3}"/>
              </a:ext>
            </a:extLst>
          </p:cNvPr>
          <p:cNvSpPr txBox="1"/>
          <p:nvPr/>
        </p:nvSpPr>
        <p:spPr>
          <a:xfrm>
            <a:off x="473202" y="2807208"/>
            <a:ext cx="2571750" cy="3410712"/>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b="0" i="0" dirty="0">
                <a:effectLst/>
              </a:rPr>
              <a:t>Tail amplitude decreases slightly as frequency increases (0.3→0.8 Hz). At low frequencies (~0.3 Hz), the largest oscillations (~27 mm) takes place</a:t>
            </a:r>
            <a:endParaRPr lang="en-US" dirty="0"/>
          </a:p>
        </p:txBody>
      </p:sp>
      <p:pic>
        <p:nvPicPr>
          <p:cNvPr id="5" name="Picture 4" descr="A graph of different colored dots&#10;&#10;AI-generated content may be incorrect.">
            <a:extLst>
              <a:ext uri="{FF2B5EF4-FFF2-40B4-BE49-F238E27FC236}">
                <a16:creationId xmlns:a16="http://schemas.microsoft.com/office/drawing/2014/main" id="{16BA22E9-CB1B-E6A9-D7CE-CFE603032D97}"/>
              </a:ext>
            </a:extLst>
          </p:cNvPr>
          <p:cNvPicPr>
            <a:picLocks noChangeAspect="1"/>
          </p:cNvPicPr>
          <p:nvPr/>
        </p:nvPicPr>
        <p:blipFill>
          <a:blip r:embed="rId2"/>
          <a:stretch>
            <a:fillRect/>
          </a:stretch>
        </p:blipFill>
        <p:spPr>
          <a:xfrm>
            <a:off x="3490722" y="1107001"/>
            <a:ext cx="5177790" cy="4643997"/>
          </a:xfrm>
          <a:prstGeom prst="rect">
            <a:avLst/>
          </a:prstGeom>
        </p:spPr>
      </p:pic>
    </p:spTree>
    <p:extLst>
      <p:ext uri="{BB962C8B-B14F-4D97-AF65-F5344CB8AC3E}">
        <p14:creationId xmlns:p14="http://schemas.microsoft.com/office/powerpoint/2010/main" val="2389623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AEAB59-3D7F-5D16-2019-80F51BC87752}"/>
              </a:ext>
            </a:extLst>
          </p:cNvPr>
          <p:cNvSpPr>
            <a:spLocks noGrp="1"/>
          </p:cNvSpPr>
          <p:nvPr>
            <p:ph type="title"/>
          </p:nvPr>
        </p:nvSpPr>
        <p:spPr>
          <a:xfrm>
            <a:off x="473202" y="639520"/>
            <a:ext cx="2571750" cy="1719072"/>
          </a:xfrm>
        </p:spPr>
        <p:txBody>
          <a:bodyPr vert="horz" lIns="91440" tIns="45720" rIns="91440" bIns="45720" rtlCol="0" anchor="b">
            <a:normAutofit/>
          </a:bodyPr>
          <a:lstStyle/>
          <a:p>
            <a:pPr algn="l" defTabSz="914400">
              <a:lnSpc>
                <a:spcPct val="90000"/>
              </a:lnSpc>
            </a:pPr>
            <a:r>
              <a:rPr lang="en-US" sz="4700" kern="1200" dirty="0">
                <a:solidFill>
                  <a:schemeClr val="tx1"/>
                </a:solidFill>
                <a:latin typeface="+mj-lt"/>
                <a:ea typeface="+mj-ea"/>
                <a:cs typeface="+mj-cs"/>
              </a:rPr>
              <a:t>Findings</a:t>
            </a:r>
          </a:p>
        </p:txBody>
      </p:sp>
      <p:sp>
        <p:nvSpPr>
          <p:cNvPr id="20"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7D7EE2B-7BE8-FBA4-605A-17A2DF59242E}"/>
              </a:ext>
            </a:extLst>
          </p:cNvPr>
          <p:cNvSpPr txBox="1"/>
          <p:nvPr/>
        </p:nvSpPr>
        <p:spPr>
          <a:xfrm>
            <a:off x="473202" y="2807208"/>
            <a:ext cx="2571750" cy="3410712"/>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900" b="0" i="0" dirty="0">
                <a:effectLst/>
              </a:rPr>
              <a:t>Strong linear relationship - higher curvature actuation (A₀) directly produces larger tail oscillations. </a:t>
            </a:r>
            <a:endParaRPr lang="en-US" sz="1900" dirty="0"/>
          </a:p>
        </p:txBody>
      </p:sp>
      <p:pic>
        <p:nvPicPr>
          <p:cNvPr id="8" name="Picture 7" descr="A chart of different colored circles&#10;&#10;AI-generated content may be incorrect.">
            <a:extLst>
              <a:ext uri="{FF2B5EF4-FFF2-40B4-BE49-F238E27FC236}">
                <a16:creationId xmlns:a16="http://schemas.microsoft.com/office/drawing/2014/main" id="{87025276-CAA8-3C75-606E-1642E1A6EDEB}"/>
              </a:ext>
            </a:extLst>
          </p:cNvPr>
          <p:cNvPicPr>
            <a:picLocks noChangeAspect="1"/>
          </p:cNvPicPr>
          <p:nvPr/>
        </p:nvPicPr>
        <p:blipFill>
          <a:blip r:embed="rId2"/>
          <a:stretch>
            <a:fillRect/>
          </a:stretch>
        </p:blipFill>
        <p:spPr>
          <a:xfrm>
            <a:off x="3490722" y="1435551"/>
            <a:ext cx="5177790" cy="3986898"/>
          </a:xfrm>
          <a:prstGeom prst="rect">
            <a:avLst/>
          </a:prstGeom>
        </p:spPr>
      </p:pic>
    </p:spTree>
    <p:extLst>
      <p:ext uri="{BB962C8B-B14F-4D97-AF65-F5344CB8AC3E}">
        <p14:creationId xmlns:p14="http://schemas.microsoft.com/office/powerpoint/2010/main" val="294315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B5B070-DE62-C67F-AFDC-771934A4BF91}"/>
              </a:ext>
            </a:extLst>
          </p:cNvPr>
          <p:cNvSpPr>
            <a:spLocks noGrp="1"/>
          </p:cNvSpPr>
          <p:nvPr>
            <p:ph type="title"/>
          </p:nvPr>
        </p:nvSpPr>
        <p:spPr>
          <a:xfrm>
            <a:off x="473202" y="639520"/>
            <a:ext cx="2571750" cy="1719072"/>
          </a:xfrm>
        </p:spPr>
        <p:txBody>
          <a:bodyPr vert="horz" lIns="91440" tIns="45720" rIns="91440" bIns="45720" rtlCol="0" anchor="b">
            <a:normAutofit/>
          </a:bodyPr>
          <a:lstStyle/>
          <a:p>
            <a:pPr algn="l" defTabSz="914400">
              <a:lnSpc>
                <a:spcPct val="90000"/>
              </a:lnSpc>
            </a:pPr>
            <a:r>
              <a:rPr lang="en-US" sz="4700" kern="1200" dirty="0">
                <a:solidFill>
                  <a:schemeClr val="tx1"/>
                </a:solidFill>
                <a:latin typeface="+mj-lt"/>
                <a:ea typeface="+mj-ea"/>
                <a:cs typeface="+mj-cs"/>
              </a:rPr>
              <a:t>Findings</a:t>
            </a:r>
          </a:p>
        </p:txBody>
      </p:sp>
      <p:sp>
        <p:nvSpPr>
          <p:cNvPr id="1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32482DB-93C9-A4F4-118F-770229D3E65B}"/>
              </a:ext>
            </a:extLst>
          </p:cNvPr>
          <p:cNvSpPr txBox="1"/>
          <p:nvPr/>
        </p:nvSpPr>
        <p:spPr>
          <a:xfrm>
            <a:off x="473202" y="2807208"/>
            <a:ext cx="2571750" cy="3410712"/>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900" b="0" i="0">
                <a:effectLst/>
              </a:rPr>
              <a:t> Higher actuation amplitude (A₀) produces larger peak deformations, as expected.</a:t>
            </a:r>
            <a:endParaRPr lang="en-US" sz="1900"/>
          </a:p>
        </p:txBody>
      </p:sp>
      <p:pic>
        <p:nvPicPr>
          <p:cNvPr id="6" name="Picture 5" descr="A graph of different colored circles&#10;&#10;AI-generated content may be incorrect.">
            <a:extLst>
              <a:ext uri="{FF2B5EF4-FFF2-40B4-BE49-F238E27FC236}">
                <a16:creationId xmlns:a16="http://schemas.microsoft.com/office/drawing/2014/main" id="{B8C71A55-1E84-CF1D-0D37-602A3B95361E}"/>
              </a:ext>
            </a:extLst>
          </p:cNvPr>
          <p:cNvPicPr>
            <a:picLocks noChangeAspect="1"/>
          </p:cNvPicPr>
          <p:nvPr/>
        </p:nvPicPr>
        <p:blipFill>
          <a:blip r:embed="rId2"/>
          <a:stretch>
            <a:fillRect/>
          </a:stretch>
        </p:blipFill>
        <p:spPr>
          <a:xfrm>
            <a:off x="3490722" y="1185291"/>
            <a:ext cx="5177790" cy="4487417"/>
          </a:xfrm>
          <a:prstGeom prst="rect">
            <a:avLst/>
          </a:prstGeom>
        </p:spPr>
      </p:pic>
    </p:spTree>
    <p:extLst>
      <p:ext uri="{BB962C8B-B14F-4D97-AF65-F5344CB8AC3E}">
        <p14:creationId xmlns:p14="http://schemas.microsoft.com/office/powerpoint/2010/main" val="1588102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81A533-3A03-8473-AC9C-3B5888FB1E1E}"/>
              </a:ext>
            </a:extLst>
          </p:cNvPr>
          <p:cNvSpPr>
            <a:spLocks noGrp="1"/>
          </p:cNvSpPr>
          <p:nvPr>
            <p:ph type="title"/>
          </p:nvPr>
        </p:nvSpPr>
        <p:spPr>
          <a:xfrm>
            <a:off x="473202" y="639520"/>
            <a:ext cx="2571750" cy="1719072"/>
          </a:xfrm>
        </p:spPr>
        <p:txBody>
          <a:bodyPr vert="horz" lIns="91440" tIns="45720" rIns="91440" bIns="45720" rtlCol="0" anchor="b">
            <a:normAutofit/>
          </a:bodyPr>
          <a:lstStyle/>
          <a:p>
            <a:pPr algn="l" defTabSz="914400">
              <a:lnSpc>
                <a:spcPct val="90000"/>
              </a:lnSpc>
            </a:pPr>
            <a:r>
              <a:rPr lang="en-US" sz="4700" kern="1200" dirty="0">
                <a:solidFill>
                  <a:schemeClr val="tx1"/>
                </a:solidFill>
                <a:latin typeface="+mj-lt"/>
                <a:ea typeface="+mj-ea"/>
                <a:cs typeface="+mj-cs"/>
              </a:rPr>
              <a:t>Findings</a:t>
            </a: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958BF6B-8D46-0BAF-1B71-3FFA9C933CC1}"/>
              </a:ext>
            </a:extLst>
          </p:cNvPr>
          <p:cNvSpPr txBox="1"/>
          <p:nvPr/>
        </p:nvSpPr>
        <p:spPr>
          <a:xfrm>
            <a:off x="473202" y="2807208"/>
            <a:ext cx="2571750" cy="3410712"/>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900" b="0" i="0" dirty="0">
                <a:effectLst/>
              </a:rPr>
              <a:t>Higher </a:t>
            </a:r>
            <a:r>
              <a:rPr lang="en-US" sz="1900" dirty="0"/>
              <a:t>Young’s Modulus </a:t>
            </a:r>
            <a:r>
              <a:rPr lang="en-US" sz="1900" b="0" i="0" dirty="0">
                <a:effectLst/>
              </a:rPr>
              <a:t>slightly increases tail amplitude. the curvature wave produces more rigid-body-like motion, leading to larger tail displacement</a:t>
            </a:r>
            <a:endParaRPr lang="en-US" sz="1900" dirty="0"/>
          </a:p>
        </p:txBody>
      </p:sp>
      <p:pic>
        <p:nvPicPr>
          <p:cNvPr id="4" name="Picture 3" descr="A graph of a graph showing different colors of a graph&#10;&#10;AI-generated content may be incorrect.">
            <a:extLst>
              <a:ext uri="{FF2B5EF4-FFF2-40B4-BE49-F238E27FC236}">
                <a16:creationId xmlns:a16="http://schemas.microsoft.com/office/drawing/2014/main" id="{4C6B40F8-DF00-1B44-1450-C896345775D9}"/>
              </a:ext>
            </a:extLst>
          </p:cNvPr>
          <p:cNvPicPr>
            <a:picLocks noChangeAspect="1"/>
          </p:cNvPicPr>
          <p:nvPr/>
        </p:nvPicPr>
        <p:blipFill>
          <a:blip r:embed="rId2"/>
          <a:stretch>
            <a:fillRect/>
          </a:stretch>
        </p:blipFill>
        <p:spPr>
          <a:xfrm>
            <a:off x="3490722" y="1215495"/>
            <a:ext cx="5177790" cy="4427010"/>
          </a:xfrm>
          <a:prstGeom prst="rect">
            <a:avLst/>
          </a:prstGeom>
        </p:spPr>
      </p:pic>
    </p:spTree>
    <p:extLst>
      <p:ext uri="{BB962C8B-B14F-4D97-AF65-F5344CB8AC3E}">
        <p14:creationId xmlns:p14="http://schemas.microsoft.com/office/powerpoint/2010/main" val="3757624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664C54-1A70-8D36-4BBC-0A31007A7A35}"/>
              </a:ext>
            </a:extLst>
          </p:cNvPr>
          <p:cNvSpPr>
            <a:spLocks noGrp="1"/>
          </p:cNvSpPr>
          <p:nvPr>
            <p:ph type="title"/>
          </p:nvPr>
        </p:nvSpPr>
        <p:spPr>
          <a:xfrm>
            <a:off x="473202" y="639520"/>
            <a:ext cx="2571750" cy="1719072"/>
          </a:xfrm>
        </p:spPr>
        <p:txBody>
          <a:bodyPr vert="horz" lIns="91440" tIns="45720" rIns="91440" bIns="45720" rtlCol="0" anchor="b">
            <a:normAutofit/>
          </a:bodyPr>
          <a:lstStyle/>
          <a:p>
            <a:pPr algn="l" defTabSz="914400">
              <a:lnSpc>
                <a:spcPct val="90000"/>
              </a:lnSpc>
            </a:pPr>
            <a:r>
              <a:rPr lang="en-US" sz="4700" kern="1200" dirty="0">
                <a:solidFill>
                  <a:schemeClr val="tx1"/>
                </a:solidFill>
                <a:latin typeface="+mj-lt"/>
                <a:ea typeface="+mj-ea"/>
                <a:cs typeface="+mj-cs"/>
              </a:rPr>
              <a:t>Findings</a:t>
            </a:r>
          </a:p>
        </p:txBody>
      </p:sp>
      <p:sp>
        <p:nvSpPr>
          <p:cNvPr id="13"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ECE69E0-1602-F184-2910-9312B4F18DFE}"/>
              </a:ext>
            </a:extLst>
          </p:cNvPr>
          <p:cNvSpPr txBox="1"/>
          <p:nvPr/>
        </p:nvSpPr>
        <p:spPr>
          <a:xfrm>
            <a:off x="473202" y="2807208"/>
            <a:ext cx="2571750" cy="3410712"/>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900" b="0" i="0">
                <a:effectLst/>
              </a:rPr>
              <a:t> higher frequencies produce faster wave speeds (v = f × wavelength)</a:t>
            </a:r>
            <a:r>
              <a:rPr lang="en-US" sz="1900"/>
              <a:t>  smaller k (yellow) gives longer wavelengths and thus higher speeds at the same frequency.</a:t>
            </a:r>
          </a:p>
        </p:txBody>
      </p:sp>
      <p:pic>
        <p:nvPicPr>
          <p:cNvPr id="4" name="Picture 3" descr="A graph of a wave propagation speed&#10;&#10;AI-generated content may be incorrect.">
            <a:extLst>
              <a:ext uri="{FF2B5EF4-FFF2-40B4-BE49-F238E27FC236}">
                <a16:creationId xmlns:a16="http://schemas.microsoft.com/office/drawing/2014/main" id="{F71E6557-8EB4-8090-2353-FEEE46D19FBA}"/>
              </a:ext>
            </a:extLst>
          </p:cNvPr>
          <p:cNvPicPr>
            <a:picLocks noChangeAspect="1"/>
          </p:cNvPicPr>
          <p:nvPr/>
        </p:nvPicPr>
        <p:blipFill>
          <a:blip r:embed="rId2"/>
          <a:stretch>
            <a:fillRect/>
          </a:stretch>
        </p:blipFill>
        <p:spPr>
          <a:xfrm>
            <a:off x="3490722" y="1280218"/>
            <a:ext cx="5177790" cy="4297564"/>
          </a:xfrm>
          <a:prstGeom prst="rect">
            <a:avLst/>
          </a:prstGeom>
        </p:spPr>
      </p:pic>
    </p:spTree>
    <p:extLst>
      <p:ext uri="{BB962C8B-B14F-4D97-AF65-F5344CB8AC3E}">
        <p14:creationId xmlns:p14="http://schemas.microsoft.com/office/powerpoint/2010/main" val="3178059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2019-98DF-CF91-4656-5E5BB57F95AE}"/>
              </a:ext>
            </a:extLst>
          </p:cNvPr>
          <p:cNvSpPr>
            <a:spLocks noGrp="1"/>
          </p:cNvSpPr>
          <p:nvPr>
            <p:ph type="title"/>
          </p:nvPr>
        </p:nvSpPr>
        <p:spPr/>
        <p:txBody>
          <a:bodyPr/>
          <a:lstStyle/>
          <a:p>
            <a:r>
              <a:rPr lang="en-US" dirty="0"/>
              <a:t>Reference</a:t>
            </a:r>
          </a:p>
        </p:txBody>
      </p:sp>
      <p:sp>
        <p:nvSpPr>
          <p:cNvPr id="3" name="TextBox 2">
            <a:extLst>
              <a:ext uri="{FF2B5EF4-FFF2-40B4-BE49-F238E27FC236}">
                <a16:creationId xmlns:a16="http://schemas.microsoft.com/office/drawing/2014/main" id="{230F2009-321C-CB97-2621-21DB1E713B84}"/>
              </a:ext>
            </a:extLst>
          </p:cNvPr>
          <p:cNvSpPr txBox="1"/>
          <p:nvPr/>
        </p:nvSpPr>
        <p:spPr>
          <a:xfrm>
            <a:off x="115910" y="1417638"/>
            <a:ext cx="19265787" cy="1477328"/>
          </a:xfrm>
          <a:prstGeom prst="rect">
            <a:avLst/>
          </a:prstGeom>
          <a:noFill/>
        </p:spPr>
        <p:txBody>
          <a:bodyPr wrap="square" rtlCol="0">
            <a:spAutoFit/>
          </a:bodyPr>
          <a:lstStyle/>
          <a:p>
            <a:pPr lvl="0"/>
            <a:r>
              <a:rPr lang="en-US" sz="900" dirty="0"/>
              <a:t>Eloy, C. (2012). Optimal Strouhal number for swimming animals. </a:t>
            </a:r>
            <a:r>
              <a:rPr lang="en-US" sz="900" i="1" dirty="0"/>
              <a:t>Journal of Theoretical Biology, 324</a:t>
            </a:r>
            <a:r>
              <a:rPr lang="en-US" sz="900" dirty="0"/>
              <a:t>, 41–49.</a:t>
            </a:r>
          </a:p>
          <a:p>
            <a:pPr lvl="0"/>
            <a:endParaRPr lang="en-US" sz="900" dirty="0"/>
          </a:p>
          <a:p>
            <a:pPr lvl="0"/>
            <a:r>
              <a:rPr lang="en-US" sz="900" dirty="0"/>
              <a:t>Esposito, C. J., Tangorra, J. L., Flammang, B. E., &amp; Lauder, G. V. (2012). A robotic fish caudal fin: Effects of stiffness and kinematics on locomotor performance. </a:t>
            </a:r>
            <a:r>
              <a:rPr lang="en-US" sz="900" i="1" dirty="0"/>
              <a:t>Journal of Experimental Biology</a:t>
            </a:r>
            <a:r>
              <a:rPr lang="en-US" sz="900" dirty="0"/>
              <a:t>.</a:t>
            </a:r>
          </a:p>
          <a:p>
            <a:pPr lvl="0"/>
            <a:endParaRPr lang="en-US" sz="900" dirty="0"/>
          </a:p>
          <a:p>
            <a:pPr lvl="0"/>
            <a:r>
              <a:rPr lang="en-US" sz="900" dirty="0" err="1"/>
              <a:t>Katzschmann</a:t>
            </a:r>
            <a:r>
              <a:rPr lang="en-US" sz="900" dirty="0"/>
              <a:t>, R. K., </a:t>
            </a:r>
            <a:r>
              <a:rPr lang="en-US" sz="900" dirty="0" err="1"/>
              <a:t>DelPreto</a:t>
            </a:r>
            <a:r>
              <a:rPr lang="en-US" sz="900" dirty="0"/>
              <a:t>, J., MacCurdy, R., &amp; Rus, D. (2018). Exploration of underwater life with an acoustically controlled soft robotic fish. </a:t>
            </a:r>
            <a:r>
              <a:rPr lang="en-US" sz="900" i="1" dirty="0"/>
              <a:t>Science Robotics, 3</a:t>
            </a:r>
            <a:r>
              <a:rPr lang="en-US" sz="900" dirty="0"/>
              <a:t>(16), eaar3449.</a:t>
            </a:r>
          </a:p>
          <a:p>
            <a:pPr lvl="0"/>
            <a:endParaRPr lang="en-US" sz="900" dirty="0"/>
          </a:p>
          <a:p>
            <a:pPr lvl="0"/>
            <a:r>
              <a:rPr lang="en-US" sz="900" dirty="0"/>
              <a:t>Lauder, G. V., Madden, P. G., Mittal, R., Jones, E. A., &amp; Baker, T. V. (2012). Fish-inspired robotics: Multi-phase hydrodynamics. </a:t>
            </a:r>
            <a:r>
              <a:rPr lang="en-US" sz="900" i="1" dirty="0"/>
              <a:t>Integrative and Comparative Biology, 52</a:t>
            </a:r>
            <a:r>
              <a:rPr lang="en-US" sz="900" dirty="0"/>
              <a:t>(6), 891–896.</a:t>
            </a:r>
          </a:p>
          <a:p>
            <a:pPr lvl="0"/>
            <a:endParaRPr lang="en-US" sz="900" dirty="0"/>
          </a:p>
          <a:p>
            <a:pPr lvl="0"/>
            <a:r>
              <a:rPr lang="en-US" sz="900" dirty="0"/>
              <a:t>Zhong, J., Wang, T., Li, G., &amp; Zhu, J. (2021). Tunable stiffness swimming robots. </a:t>
            </a:r>
            <a:r>
              <a:rPr lang="en-US" sz="900" i="1" dirty="0"/>
              <a:t>Science Robotics, 6</a:t>
            </a:r>
            <a:r>
              <a:rPr lang="en-US" sz="900" dirty="0"/>
              <a:t>(54), eabd2971.</a:t>
            </a:r>
          </a:p>
          <a:p>
            <a:endParaRPr lang="en-US" sz="900" dirty="0"/>
          </a:p>
        </p:txBody>
      </p:sp>
    </p:spTree>
    <p:extLst>
      <p:ext uri="{BB962C8B-B14F-4D97-AF65-F5344CB8AC3E}">
        <p14:creationId xmlns:p14="http://schemas.microsoft.com/office/powerpoint/2010/main" val="3272809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13040</TotalTime>
  <Words>609</Words>
  <Application>Microsoft Macintosh PowerPoint</Application>
  <PresentationFormat>On-screen Show (4:3)</PresentationFormat>
  <Paragraphs>67</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 Math</vt:lpstr>
      <vt:lpstr>Office Theme</vt:lpstr>
      <vt:lpstr>Soft Robotic Fish: Bending via Flexible Beam Model</vt:lpstr>
      <vt:lpstr>The scope</vt:lpstr>
      <vt:lpstr>Default Parameters</vt:lpstr>
      <vt:lpstr>Geometry</vt:lpstr>
      <vt:lpstr>Code</vt:lpstr>
      <vt:lpstr>The motion of a single simulation</vt:lpstr>
      <vt:lpstr>Parameter Sweep</vt:lpstr>
      <vt:lpstr>Findings</vt:lpstr>
      <vt:lpstr>Findings</vt:lpstr>
      <vt:lpstr>Findings</vt:lpstr>
      <vt:lpstr>Findings</vt:lpstr>
      <vt:lpstr>Findings</vt:lpstr>
      <vt:lpstr>Reference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Jiajin Cui</cp:lastModifiedBy>
  <cp:revision>10</cp:revision>
  <dcterms:created xsi:type="dcterms:W3CDTF">2013-01-27T09:14:16Z</dcterms:created>
  <dcterms:modified xsi:type="dcterms:W3CDTF">2025-12-03T18:31:55Z</dcterms:modified>
  <cp:category/>
</cp:coreProperties>
</file>