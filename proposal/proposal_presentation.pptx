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87"/>
  </p:normalViewPr>
  <p:slideViewPr>
    <p:cSldViewPr snapToGrid="0" snapToObjects="1">
      <p:cViewPr>
        <p:scale>
          <a:sx n="85" d="100"/>
          <a:sy n="85" d="100"/>
        </p:scale>
        <p:origin x="2304" y="5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64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script (~60 sec):</a:t>
            </a:r>
          </a:p>
          <a:p>
            <a:r>
              <a:t>We propose a soft robotic fin modeled as a flexible beam to study how stiffness and actuation shape bending and propulsive performance. Soft propulsion is attractive because it is quieter and safer than rigid propellers. Prior soft fish and foil studies show that fin stiffness and the motion program critically affect thrust and efficiency, and efficient cruising often lies near Strouhal numbers around 0.2 to 0.4. We will build on these findings with a simplified beam model to obtain clear, design-relevant maps from stiffness and actuation to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video" Target="https://www.youtube.com/embed/Dy5ZETdaC9k?start=24&amp;feature=oembed" TargetMode="Externa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506576" y="376930"/>
            <a:ext cx="3172575" cy="3387497"/>
          </a:xfrm>
        </p:spPr>
        <p:txBody>
          <a:bodyPr vert="horz" lIns="91440" tIns="45720" rIns="91440" bIns="45720" rtlCol="0" anchor="b">
            <a:normAutofit/>
          </a:bodyPr>
          <a:lstStyle/>
          <a:p>
            <a:pPr algn="r" defTabSz="914400">
              <a:lnSpc>
                <a:spcPct val="90000"/>
              </a:lnSpc>
            </a:pPr>
            <a:r>
              <a:rPr lang="en-US" sz="3500" kern="1200" dirty="0">
                <a:solidFill>
                  <a:srgbClr val="FFFFFF"/>
                </a:solidFill>
                <a:latin typeface="+mj-lt"/>
                <a:ea typeface="+mj-ea"/>
                <a:cs typeface="+mj-cs"/>
              </a:rPr>
              <a:t>Soft Robotic Fish:</a:t>
            </a:r>
          </a:p>
          <a:p>
            <a:pPr algn="r" defTabSz="914400">
              <a:lnSpc>
                <a:spcPct val="90000"/>
              </a:lnSpc>
            </a:pPr>
            <a:r>
              <a:rPr lang="en-US" sz="3500" kern="1200" dirty="0">
                <a:solidFill>
                  <a:srgbClr val="FFFFFF"/>
                </a:solidFill>
                <a:latin typeface="+mj-lt"/>
                <a:ea typeface="+mj-ea"/>
                <a:cs typeface="+mj-cs"/>
              </a:rPr>
              <a:t>Bending &amp; Propulsion via Flexible Beam Model</a:t>
            </a:r>
          </a:p>
        </p:txBody>
      </p:sp>
      <p:sp>
        <p:nvSpPr>
          <p:cNvPr id="3" name="TextBox 2"/>
          <p:cNvSpPr txBox="1"/>
          <p:nvPr/>
        </p:nvSpPr>
        <p:spPr>
          <a:xfrm>
            <a:off x="294603" y="2212550"/>
            <a:ext cx="3646835" cy="554604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1600">
                <a:solidFill>
                  <a:srgbClr val="5A5A5A"/>
                </a:solidFill>
              </a:defRPr>
            </a:pPr>
            <a:endParaRPr lang="en-US" sz="1700" dirty="0"/>
          </a:p>
          <a:p>
            <a:pPr indent="-228600" defTabSz="914400">
              <a:lnSpc>
                <a:spcPct val="90000"/>
              </a:lnSpc>
              <a:spcAft>
                <a:spcPts val="600"/>
              </a:spcAft>
              <a:buFont typeface="Arial" panose="020B0604020202020204" pitchFamily="34" charset="0"/>
              <a:buChar char="•"/>
              <a:defRPr sz="1600">
                <a:solidFill>
                  <a:srgbClr val="5A5A5A"/>
                </a:solidFill>
              </a:defRPr>
            </a:pPr>
            <a:r>
              <a:rPr lang="en-US" sz="1700" dirty="0">
                <a:solidFill>
                  <a:schemeClr val="bg1"/>
                </a:solidFill>
              </a:rPr>
              <a:t>MAE-263F Mechanics of Flexible Structures &amp; Soft Robots</a:t>
            </a:r>
            <a:br>
              <a:rPr lang="en-US" sz="1700" dirty="0">
                <a:solidFill>
                  <a:schemeClr val="bg1"/>
                </a:solidFill>
              </a:rPr>
            </a:br>
            <a:r>
              <a:rPr lang="en-US" sz="1700" dirty="0">
                <a:solidFill>
                  <a:schemeClr val="bg1"/>
                </a:solidFill>
              </a:rPr>
              <a:t>Jiajin Cui</a:t>
            </a:r>
          </a:p>
        </p:txBody>
      </p:sp>
      <p:sp>
        <p:nvSpPr>
          <p:cNvPr id="4" name="TextBox 3"/>
          <p:cNvSpPr txBox="1"/>
          <p:nvPr/>
        </p:nvSpPr>
        <p:spPr>
          <a:xfrm>
            <a:off x="4337418" y="586855"/>
            <a:ext cx="4114800" cy="3139321"/>
          </a:xfrm>
          <a:prstGeom prst="rect">
            <a:avLst/>
          </a:prstGeom>
          <a:noFill/>
        </p:spPr>
        <p:txBody>
          <a:bodyPr wrap="square">
            <a:spAutoFit/>
          </a:bodyPr>
          <a:lstStyle/>
          <a:p>
            <a:pPr>
              <a:spcAft>
                <a:spcPts val="600"/>
              </a:spcAft>
              <a:defRPr sz="2000" b="1"/>
            </a:pPr>
            <a:r>
              <a:rPr lang="en-US" dirty="0"/>
              <a:t>Problem &amp; Motivation</a:t>
            </a:r>
          </a:p>
          <a:p>
            <a:pPr>
              <a:spcAft>
                <a:spcPts val="600"/>
              </a:spcAft>
              <a:defRPr sz="2000" b="1"/>
            </a:pPr>
            <a:endParaRPr lang="en-US" dirty="0"/>
          </a:p>
          <a:p>
            <a:pPr marL="800100" lvl="1" indent="-342900">
              <a:spcAft>
                <a:spcPts val="600"/>
              </a:spcAft>
              <a:buAutoNum type="arabicPeriod"/>
              <a:defRPr sz="1600"/>
            </a:pPr>
            <a:r>
              <a:rPr lang="en-US" dirty="0"/>
              <a:t>Underwater exploration requires a soft robots that are capable of agile swimming maneuvers. </a:t>
            </a:r>
          </a:p>
          <a:p>
            <a:pPr marL="800100" lvl="1" indent="-342900">
              <a:spcAft>
                <a:spcPts val="600"/>
              </a:spcAft>
              <a:buAutoNum type="arabicPeriod"/>
              <a:defRPr sz="1600"/>
            </a:pPr>
            <a:endParaRPr lang="en-US" dirty="0"/>
          </a:p>
          <a:p>
            <a:pPr marL="800100" lvl="1" indent="-342900">
              <a:spcAft>
                <a:spcPts val="600"/>
              </a:spcAft>
              <a:buAutoNum type="arabicPeriod"/>
              <a:defRPr sz="1600"/>
            </a:pPr>
            <a:r>
              <a:rPr lang="en-US" dirty="0"/>
              <a:t>Soft robotic fish are safer and quieter compared to rigid propellers.</a:t>
            </a:r>
          </a:p>
          <a:p>
            <a:pPr marL="800100" lvl="1" indent="-342900">
              <a:spcAft>
                <a:spcPts val="600"/>
              </a:spcAft>
              <a:buAutoNum type="arabicPeriod"/>
              <a:defRPr sz="1600"/>
            </a:pPr>
            <a:endParaRPr lang="en-US" dirty="0"/>
          </a:p>
          <a:p>
            <a:pPr lvl="1">
              <a:spcAft>
                <a:spcPts val="600"/>
              </a:spcAft>
              <a:defRPr sz="1600"/>
            </a:pPr>
            <a:endParaRPr lang="en-US" dirty="0"/>
          </a:p>
        </p:txBody>
      </p:sp>
      <p:pic>
        <p:nvPicPr>
          <p:cNvPr id="9" name="Online Media 8" descr="A Robotic Fish Swims in the Ocean">
            <a:hlinkClick r:id="" action="ppaction://media"/>
            <a:extLst>
              <a:ext uri="{FF2B5EF4-FFF2-40B4-BE49-F238E27FC236}">
                <a16:creationId xmlns:a16="http://schemas.microsoft.com/office/drawing/2014/main" id="{F25B8BE9-CEDE-17FB-C334-C1B1507D0BCD}"/>
              </a:ext>
            </a:extLst>
          </p:cNvPr>
          <p:cNvPicPr>
            <a:picLocks noRot="1" noChangeAspect="1"/>
          </p:cNvPicPr>
          <p:nvPr>
            <a:videoFile r:link="rId1"/>
          </p:nvPr>
        </p:nvPicPr>
        <p:blipFill>
          <a:blip r:embed="rId4"/>
          <a:stretch>
            <a:fillRect/>
          </a:stretch>
        </p:blipFill>
        <p:spPr>
          <a:xfrm>
            <a:off x="5084830" y="3581124"/>
            <a:ext cx="3229175" cy="18244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31C2ACA5-67D4-88D1-C63E-89478A0372DE}"/>
              </a:ext>
            </a:extLst>
          </p:cNvPr>
          <p:cNvSpPr>
            <a:spLocks noGrp="1"/>
          </p:cNvSpPr>
          <p:nvPr>
            <p:ph type="title"/>
          </p:nvPr>
        </p:nvSpPr>
        <p:spPr>
          <a:xfrm>
            <a:off x="1028699" y="294538"/>
            <a:ext cx="7421963" cy="103366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Prior Works and Future Approach</a:t>
            </a:r>
          </a:p>
        </p:txBody>
      </p:sp>
      <p:sp>
        <p:nvSpPr>
          <p:cNvPr id="9" name="TextBox 8">
            <a:extLst>
              <a:ext uri="{FF2B5EF4-FFF2-40B4-BE49-F238E27FC236}">
                <a16:creationId xmlns:a16="http://schemas.microsoft.com/office/drawing/2014/main" id="{21B5E490-A59C-3714-03E5-4E1B7082AD35}"/>
              </a:ext>
            </a:extLst>
          </p:cNvPr>
          <p:cNvSpPr txBox="1"/>
          <p:nvPr/>
        </p:nvSpPr>
        <p:spPr>
          <a:xfrm>
            <a:off x="-2" y="1597432"/>
            <a:ext cx="4572002" cy="5133152"/>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r>
              <a:rPr lang="en-US" sz="1700" b="1" dirty="0" err="1"/>
              <a:t>Katzschmann</a:t>
            </a:r>
            <a:r>
              <a:rPr lang="en-US" sz="1700" b="1" dirty="0"/>
              <a:t> et al. (2018)</a:t>
            </a:r>
            <a:r>
              <a:rPr lang="en-US" sz="1700" dirty="0"/>
              <a:t> </a:t>
            </a:r>
          </a:p>
          <a:p>
            <a:pPr marL="742950" lvl="1" indent="-228600" defTabSz="914400">
              <a:lnSpc>
                <a:spcPct val="90000"/>
              </a:lnSpc>
              <a:spcAft>
                <a:spcPts val="600"/>
              </a:spcAft>
              <a:buFont typeface="Arial" panose="020B0604020202020204" pitchFamily="34" charset="0"/>
              <a:buChar char="•"/>
            </a:pPr>
            <a:r>
              <a:rPr lang="en-US" sz="1700" dirty="0"/>
              <a:t>developed the </a:t>
            </a:r>
            <a:r>
              <a:rPr lang="en-US" sz="1700" i="1" dirty="0"/>
              <a:t>SoFi</a:t>
            </a:r>
            <a:r>
              <a:rPr lang="en-US" sz="1700" dirty="0"/>
              <a:t> soft robotic fish, showing compliant propulsion in real field tests.</a:t>
            </a:r>
          </a:p>
          <a:p>
            <a:pPr marL="742950" lvl="1" indent="-228600" defTabSz="914400">
              <a:lnSpc>
                <a:spcPct val="90000"/>
              </a:lnSpc>
              <a:spcAft>
                <a:spcPts val="600"/>
              </a:spcAft>
              <a:buFont typeface="Arial" panose="020B0604020202020204" pitchFamily="34" charset="0"/>
              <a:buChar char="•"/>
            </a:pPr>
            <a:r>
              <a:rPr lang="en-US" sz="1700" dirty="0"/>
              <a:t>Fluid-structure simulation, computational fluid dynamics</a:t>
            </a:r>
          </a:p>
          <a:p>
            <a:pPr indent="-228600" defTabSz="914400">
              <a:lnSpc>
                <a:spcPct val="90000"/>
              </a:lnSpc>
              <a:spcAft>
                <a:spcPts val="600"/>
              </a:spcAft>
              <a:buFont typeface="Arial" panose="020B0604020202020204" pitchFamily="34" charset="0"/>
              <a:buChar char="•"/>
            </a:pPr>
            <a:endParaRPr lang="en-US" sz="1700" dirty="0"/>
          </a:p>
          <a:p>
            <a:pPr marL="285750" indent="-228600" defTabSz="914400">
              <a:lnSpc>
                <a:spcPct val="90000"/>
              </a:lnSpc>
              <a:spcAft>
                <a:spcPts val="600"/>
              </a:spcAft>
              <a:buFont typeface="Arial" panose="020B0604020202020204" pitchFamily="34" charset="0"/>
              <a:buChar char="•"/>
            </a:pPr>
            <a:r>
              <a:rPr lang="en-US" sz="1700" b="1" dirty="0"/>
              <a:t>Esposito et al. (2012)</a:t>
            </a:r>
            <a:r>
              <a:rPr lang="en-US" sz="1700" dirty="0"/>
              <a:t> and </a:t>
            </a:r>
            <a:r>
              <a:rPr lang="en-US" sz="1700" b="1" dirty="0"/>
              <a:t>Lauder et al. (2012)</a:t>
            </a:r>
            <a:r>
              <a:rPr lang="en-US" sz="1700" dirty="0"/>
              <a:t>. </a:t>
            </a:r>
          </a:p>
          <a:p>
            <a:pPr marL="742950" lvl="1" indent="-228600" defTabSz="914400">
              <a:lnSpc>
                <a:spcPct val="90000"/>
              </a:lnSpc>
              <a:spcAft>
                <a:spcPts val="600"/>
              </a:spcAft>
              <a:buFont typeface="Arial" panose="020B0604020202020204" pitchFamily="34" charset="0"/>
              <a:buChar char="•"/>
            </a:pPr>
            <a:r>
              <a:rPr lang="en-US" sz="1700" dirty="0"/>
              <a:t>foils, finding that fin stiffness and motion programs strongly affect thrust and lift</a:t>
            </a:r>
          </a:p>
          <a:p>
            <a:pPr marL="742950" lvl="1" indent="-228600" defTabSz="914400">
              <a:lnSpc>
                <a:spcPct val="90000"/>
              </a:lnSpc>
              <a:spcAft>
                <a:spcPts val="600"/>
              </a:spcAft>
              <a:buFont typeface="Arial" panose="020B0604020202020204" pitchFamily="34" charset="0"/>
              <a:buChar char="•"/>
            </a:pPr>
            <a:r>
              <a:rPr lang="en-US" sz="1700" dirty="0"/>
              <a:t>Prescribed motion, 2-way fluid structure interaction using Navier-Stokes solvers</a:t>
            </a:r>
            <a:br>
              <a:rPr lang="en-US" sz="1700" dirty="0"/>
            </a:br>
            <a:endParaRPr lang="en-US" sz="1700" dirty="0"/>
          </a:p>
          <a:p>
            <a:pPr marL="285750" indent="-228600" defTabSz="914400">
              <a:lnSpc>
                <a:spcPct val="90000"/>
              </a:lnSpc>
              <a:spcAft>
                <a:spcPts val="600"/>
              </a:spcAft>
              <a:buFont typeface="Arial" panose="020B0604020202020204" pitchFamily="34" charset="0"/>
              <a:buChar char="•"/>
            </a:pPr>
            <a:r>
              <a:rPr lang="en-US" sz="1700" b="1" dirty="0"/>
              <a:t>Zhong et al. (2021)</a:t>
            </a:r>
            <a:r>
              <a:rPr lang="en-US" sz="1700" dirty="0"/>
              <a:t> </a:t>
            </a:r>
          </a:p>
          <a:p>
            <a:pPr marL="742950" lvl="1" indent="-228600" defTabSz="914400">
              <a:lnSpc>
                <a:spcPct val="90000"/>
              </a:lnSpc>
              <a:spcAft>
                <a:spcPts val="600"/>
              </a:spcAft>
              <a:buFont typeface="Arial" panose="020B0604020202020204" pitchFamily="34" charset="0"/>
              <a:buChar char="•"/>
            </a:pPr>
            <a:r>
              <a:rPr lang="en-US" sz="1700" dirty="0"/>
              <a:t>demonstrated that tunable stiffness improves swimming speed and efficiency</a:t>
            </a:r>
          </a:p>
          <a:p>
            <a:pPr marL="742950" lvl="1" indent="-228600" defTabSz="914400">
              <a:lnSpc>
                <a:spcPct val="90000"/>
              </a:lnSpc>
              <a:spcAft>
                <a:spcPts val="600"/>
              </a:spcAft>
              <a:buFont typeface="Arial" panose="020B0604020202020204" pitchFamily="34" charset="0"/>
              <a:buChar char="•"/>
            </a:pPr>
            <a:r>
              <a:rPr lang="en-US" sz="1700" dirty="0"/>
              <a:t>Non-linear FEA involving electro active polymers</a:t>
            </a:r>
          </a:p>
        </p:txBody>
      </p:sp>
      <p:sp>
        <p:nvSpPr>
          <p:cNvPr id="13" name="TextBox 12">
            <a:extLst>
              <a:ext uri="{FF2B5EF4-FFF2-40B4-BE49-F238E27FC236}">
                <a16:creationId xmlns:a16="http://schemas.microsoft.com/office/drawing/2014/main" id="{8A9024FB-C6BD-2BDA-BE13-397AC8261C90}"/>
              </a:ext>
            </a:extLst>
          </p:cNvPr>
          <p:cNvSpPr txBox="1"/>
          <p:nvPr/>
        </p:nvSpPr>
        <p:spPr>
          <a:xfrm>
            <a:off x="5279034" y="1747592"/>
            <a:ext cx="3864966" cy="3139202"/>
          </a:xfrm>
          <a:prstGeom prst="rect">
            <a:avLst/>
          </a:prstGeom>
        </p:spPr>
        <p:txBody>
          <a:bodyPr vert="horz" lIns="91440" tIns="45720" rIns="91440" bIns="45720" rtlCol="0" anchor="ctr">
            <a:normAutofit/>
          </a:bodyPr>
          <a:lstStyle/>
          <a:p>
            <a:pPr marL="285750" indent="-228600" defTabSz="914400">
              <a:lnSpc>
                <a:spcPct val="90000"/>
              </a:lnSpc>
              <a:spcAft>
                <a:spcPts val="600"/>
              </a:spcAft>
              <a:buFont typeface="Arial" panose="020B0604020202020204" pitchFamily="34" charset="0"/>
              <a:buChar char="•"/>
            </a:pPr>
            <a:endParaRPr lang="en-US" sz="1700" dirty="0"/>
          </a:p>
        </p:txBody>
      </p:sp>
      <p:sp>
        <p:nvSpPr>
          <p:cNvPr id="15" name="TextBox 14">
            <a:extLst>
              <a:ext uri="{FF2B5EF4-FFF2-40B4-BE49-F238E27FC236}">
                <a16:creationId xmlns:a16="http://schemas.microsoft.com/office/drawing/2014/main" id="{6C2DE6ED-6844-AB1E-49D5-3AE24B726756}"/>
              </a:ext>
            </a:extLst>
          </p:cNvPr>
          <p:cNvSpPr txBox="1"/>
          <p:nvPr/>
        </p:nvSpPr>
        <p:spPr>
          <a:xfrm>
            <a:off x="4441768" y="1622745"/>
            <a:ext cx="4702229" cy="4801314"/>
          </a:xfrm>
          <a:prstGeom prst="rect">
            <a:avLst/>
          </a:prstGeom>
          <a:noFill/>
        </p:spPr>
        <p:txBody>
          <a:bodyPr wrap="square" rtlCol="0">
            <a:spAutoFit/>
          </a:bodyPr>
          <a:lstStyle/>
          <a:p>
            <a:r>
              <a:rPr lang="en-US" b="1" i="1" dirty="0"/>
              <a:t>Approach</a:t>
            </a:r>
          </a:p>
          <a:p>
            <a:pPr marL="285750" indent="-285750">
              <a:buFont typeface="Arial" panose="020B0604020202020204" pitchFamily="34" charset="0"/>
              <a:buChar char="•"/>
            </a:pPr>
            <a:r>
              <a:rPr lang="en-US" dirty="0"/>
              <a:t>Fish -&gt; an Euler-Bernoulli beam</a:t>
            </a:r>
          </a:p>
          <a:p>
            <a:pPr marL="285750" indent="-285750">
              <a:buFont typeface="Arial" panose="020B0604020202020204" pitchFamily="34" charset="0"/>
              <a:buChar char="•"/>
            </a:pPr>
            <a:r>
              <a:rPr lang="en-US" dirty="0"/>
              <a:t>Actuation -&gt; distributed loads or base oscillation</a:t>
            </a:r>
          </a:p>
          <a:p>
            <a:pPr marL="285750" indent="-285750">
              <a:buFont typeface="Arial" panose="020B0604020202020204" pitchFamily="34" charset="0"/>
              <a:buChar char="•"/>
            </a:pPr>
            <a:r>
              <a:rPr lang="en-US" dirty="0"/>
              <a:t>System -&gt; Implicit Time Integration</a:t>
            </a:r>
          </a:p>
          <a:p>
            <a:pPr marL="285750" indent="-285750">
              <a:buFont typeface="Arial" panose="020B0604020202020204" pitchFamily="34" charset="0"/>
              <a:buChar char="•"/>
            </a:pPr>
            <a:r>
              <a:rPr lang="en-US" dirty="0"/>
              <a:t>Key parameters: frequency, amplitude, stiffness, and viscosity</a:t>
            </a:r>
          </a:p>
          <a:p>
            <a:endParaRPr lang="en-US" dirty="0"/>
          </a:p>
          <a:p>
            <a:r>
              <a:rPr lang="en-US" b="1" i="1" dirty="0"/>
              <a:t>Anticipated Contribution</a:t>
            </a:r>
          </a:p>
          <a:p>
            <a:endParaRPr lang="en-US" dirty="0"/>
          </a:p>
          <a:p>
            <a:pPr marL="342900" indent="-342900">
              <a:buFont typeface="+mj-lt"/>
              <a:buAutoNum type="arabicPeriod"/>
            </a:pPr>
            <a:r>
              <a:rPr lang="en-US" dirty="0"/>
              <a:t>fast simulation and parametric studies of stiffness, frequency, and amplitude, without requiring full CFD coupling.</a:t>
            </a:r>
          </a:p>
          <a:p>
            <a:pPr marL="342900" indent="-342900">
              <a:buFont typeface="+mj-lt"/>
              <a:buAutoNum type="arabicPeriod"/>
            </a:pPr>
            <a:endParaRPr lang="en-US" dirty="0"/>
          </a:p>
          <a:p>
            <a:pPr marL="342900" indent="-342900">
              <a:buFont typeface="+mj-lt"/>
              <a:buAutoNum type="arabicPeriod"/>
            </a:pPr>
            <a:r>
              <a:rPr lang="en-US" dirty="0"/>
              <a:t>computationally efficient abstraction to understand key trends in fin bending and propulsive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311</Words>
  <Application>Microsoft Macintosh PowerPoint</Application>
  <PresentationFormat>On-screen Show (4:3)</PresentationFormat>
  <Paragraphs>33</Paragraphs>
  <Slides>2</Slides>
  <Notes>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Soft Robotic Fish: Bending &amp; Propulsion via Flexible Beam Model</vt:lpstr>
      <vt:lpstr>Prior Works and Future Approach</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Jiajin Cui</cp:lastModifiedBy>
  <cp:revision>4</cp:revision>
  <dcterms:created xsi:type="dcterms:W3CDTF">2013-01-27T09:14:16Z</dcterms:created>
  <dcterms:modified xsi:type="dcterms:W3CDTF">2025-11-03T18:40:13Z</dcterms:modified>
  <cp:category/>
</cp:coreProperties>
</file>